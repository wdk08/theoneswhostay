
<file path=[Content_Types].xml><?xml version="1.0" encoding="utf-8"?>
<Types xmlns="http://schemas.openxmlformats.org/package/2006/content-types">
  <Default Extension="jpeg" ContentType="image/jpeg"/>
  <Default Extension="jpg" ContentType="image/jpeg"/>
  <Default Extension="jpg!d"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63" r:id="rId4"/>
    <p:sldId id="272" r:id="rId5"/>
    <p:sldId id="258" r:id="rId6"/>
    <p:sldId id="259" r:id="rId7"/>
    <p:sldId id="260" r:id="rId8"/>
    <p:sldId id="261" r:id="rId9"/>
    <p:sldId id="262" r:id="rId10"/>
    <p:sldId id="270" r:id="rId11"/>
    <p:sldId id="273" r:id="rId12"/>
    <p:sldId id="265" r:id="rId13"/>
    <p:sldId id="264" r:id="rId14"/>
    <p:sldId id="266" r:id="rId15"/>
    <p:sldId id="274" r:id="rId16"/>
    <p:sldId id="26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292"/>
    <p:restoredTop sz="94674"/>
  </p:normalViewPr>
  <p:slideViewPr>
    <p:cSldViewPr snapToGrid="0">
      <p:cViewPr varScale="1">
        <p:scale>
          <a:sx n="102" d="100"/>
          <a:sy n="102" d="100"/>
        </p:scale>
        <p:origin x="36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A28072-3C16-E14C-810F-E0C716E23E48}" type="datetimeFigureOut">
              <a:rPr lang="en-US" smtClean="0"/>
              <a:t>6/7/26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7BC23D-8411-3F42-BF67-686F3563FB26}" type="slidenum">
              <a:rPr lang="en-US" smtClean="0"/>
              <a:t>‹#›</a:t>
            </a:fld>
            <a:endParaRPr lang="en-US"/>
          </a:p>
        </p:txBody>
      </p:sp>
    </p:spTree>
    <p:extLst>
      <p:ext uri="{BB962C8B-B14F-4D97-AF65-F5344CB8AC3E}">
        <p14:creationId xmlns:p14="http://schemas.microsoft.com/office/powerpoint/2010/main" val="3466715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7BC23D-8411-3F42-BF67-686F3563FB26}" type="slidenum">
              <a:rPr lang="en-US" smtClean="0"/>
              <a:t>1</a:t>
            </a:fld>
            <a:endParaRPr lang="en-US"/>
          </a:p>
        </p:txBody>
      </p:sp>
    </p:spTree>
    <p:extLst>
      <p:ext uri="{BB962C8B-B14F-4D97-AF65-F5344CB8AC3E}">
        <p14:creationId xmlns:p14="http://schemas.microsoft.com/office/powerpoint/2010/main" val="2803201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0BDAE-2800-1F83-8418-B6F47099D73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7488B9-47A1-C905-5CF4-3D33F29F8F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2A59417-2DE8-8C0A-B225-08AE3D6274D0}"/>
              </a:ext>
            </a:extLst>
          </p:cNvPr>
          <p:cNvSpPr>
            <a:spLocks noGrp="1"/>
          </p:cNvSpPr>
          <p:nvPr>
            <p:ph type="dt" sz="half" idx="10"/>
          </p:nvPr>
        </p:nvSpPr>
        <p:spPr/>
        <p:txBody>
          <a:bodyPr/>
          <a:lstStyle/>
          <a:p>
            <a:fld id="{38EEFE1F-3EAB-5942-BB76-2051B24AF1B4}" type="datetimeFigureOut">
              <a:rPr lang="en-US" smtClean="0"/>
              <a:t>6/7/26</a:t>
            </a:fld>
            <a:endParaRPr lang="en-US"/>
          </a:p>
        </p:txBody>
      </p:sp>
      <p:sp>
        <p:nvSpPr>
          <p:cNvPr id="5" name="Footer Placeholder 4">
            <a:extLst>
              <a:ext uri="{FF2B5EF4-FFF2-40B4-BE49-F238E27FC236}">
                <a16:creationId xmlns:a16="http://schemas.microsoft.com/office/drawing/2014/main" id="{32C903F9-2CF5-D223-91B8-69302647C3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AC3D36-A482-2CD5-0202-A8E6427A2CA2}"/>
              </a:ext>
            </a:extLst>
          </p:cNvPr>
          <p:cNvSpPr>
            <a:spLocks noGrp="1"/>
          </p:cNvSpPr>
          <p:nvPr>
            <p:ph type="sldNum" sz="quarter" idx="12"/>
          </p:nvPr>
        </p:nvSpPr>
        <p:spPr/>
        <p:txBody>
          <a:bodyPr/>
          <a:lstStyle/>
          <a:p>
            <a:fld id="{195AE0D7-A498-6642-96F0-C218D73D99DC}" type="slidenum">
              <a:rPr lang="en-US" smtClean="0"/>
              <a:t>‹#›</a:t>
            </a:fld>
            <a:endParaRPr lang="en-US"/>
          </a:p>
        </p:txBody>
      </p:sp>
    </p:spTree>
    <p:extLst>
      <p:ext uri="{BB962C8B-B14F-4D97-AF65-F5344CB8AC3E}">
        <p14:creationId xmlns:p14="http://schemas.microsoft.com/office/powerpoint/2010/main" val="15449084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F9C2A-769D-EC31-ADDB-9009FA1DEB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F29998-CF65-D063-C289-64EEE0AF4F0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C7A155-74FE-EAB7-EF0D-5E07F91F776D}"/>
              </a:ext>
            </a:extLst>
          </p:cNvPr>
          <p:cNvSpPr>
            <a:spLocks noGrp="1"/>
          </p:cNvSpPr>
          <p:nvPr>
            <p:ph type="dt" sz="half" idx="10"/>
          </p:nvPr>
        </p:nvSpPr>
        <p:spPr/>
        <p:txBody>
          <a:bodyPr/>
          <a:lstStyle/>
          <a:p>
            <a:fld id="{38EEFE1F-3EAB-5942-BB76-2051B24AF1B4}" type="datetimeFigureOut">
              <a:rPr lang="en-US" smtClean="0"/>
              <a:t>6/7/26</a:t>
            </a:fld>
            <a:endParaRPr lang="en-US"/>
          </a:p>
        </p:txBody>
      </p:sp>
      <p:sp>
        <p:nvSpPr>
          <p:cNvPr id="5" name="Footer Placeholder 4">
            <a:extLst>
              <a:ext uri="{FF2B5EF4-FFF2-40B4-BE49-F238E27FC236}">
                <a16:creationId xmlns:a16="http://schemas.microsoft.com/office/drawing/2014/main" id="{A1DBF6B9-B366-47B2-6B48-E99F24440C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8370DA-8CDB-FAA6-E2A7-AED6B1CB495B}"/>
              </a:ext>
            </a:extLst>
          </p:cNvPr>
          <p:cNvSpPr>
            <a:spLocks noGrp="1"/>
          </p:cNvSpPr>
          <p:nvPr>
            <p:ph type="sldNum" sz="quarter" idx="12"/>
          </p:nvPr>
        </p:nvSpPr>
        <p:spPr/>
        <p:txBody>
          <a:bodyPr/>
          <a:lstStyle/>
          <a:p>
            <a:fld id="{195AE0D7-A498-6642-96F0-C218D73D99DC}" type="slidenum">
              <a:rPr lang="en-US" smtClean="0"/>
              <a:t>‹#›</a:t>
            </a:fld>
            <a:endParaRPr lang="en-US"/>
          </a:p>
        </p:txBody>
      </p:sp>
    </p:spTree>
    <p:extLst>
      <p:ext uri="{BB962C8B-B14F-4D97-AF65-F5344CB8AC3E}">
        <p14:creationId xmlns:p14="http://schemas.microsoft.com/office/powerpoint/2010/main" val="1479196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3EEF8-E506-7EEF-82F3-64B55984FCE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4E45908-DDDE-4302-6537-84F7ABBAFFC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0AD19BC-86B1-7EF2-4ECB-7050E33DD39D}"/>
              </a:ext>
            </a:extLst>
          </p:cNvPr>
          <p:cNvSpPr>
            <a:spLocks noGrp="1"/>
          </p:cNvSpPr>
          <p:nvPr>
            <p:ph type="dt" sz="half" idx="10"/>
          </p:nvPr>
        </p:nvSpPr>
        <p:spPr/>
        <p:txBody>
          <a:bodyPr/>
          <a:lstStyle/>
          <a:p>
            <a:fld id="{38EEFE1F-3EAB-5942-BB76-2051B24AF1B4}" type="datetimeFigureOut">
              <a:rPr lang="en-US" smtClean="0"/>
              <a:t>6/7/26</a:t>
            </a:fld>
            <a:endParaRPr lang="en-US"/>
          </a:p>
        </p:txBody>
      </p:sp>
      <p:sp>
        <p:nvSpPr>
          <p:cNvPr id="5" name="Footer Placeholder 4">
            <a:extLst>
              <a:ext uri="{FF2B5EF4-FFF2-40B4-BE49-F238E27FC236}">
                <a16:creationId xmlns:a16="http://schemas.microsoft.com/office/drawing/2014/main" id="{3E62830A-9B9B-80B0-2BAF-AA859218D4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E82501-C32D-A9CB-A161-BDD7177472EB}"/>
              </a:ext>
            </a:extLst>
          </p:cNvPr>
          <p:cNvSpPr>
            <a:spLocks noGrp="1"/>
          </p:cNvSpPr>
          <p:nvPr>
            <p:ph type="sldNum" sz="quarter" idx="12"/>
          </p:nvPr>
        </p:nvSpPr>
        <p:spPr/>
        <p:txBody>
          <a:bodyPr/>
          <a:lstStyle/>
          <a:p>
            <a:fld id="{195AE0D7-A498-6642-96F0-C218D73D99DC}" type="slidenum">
              <a:rPr lang="en-US" smtClean="0"/>
              <a:t>‹#›</a:t>
            </a:fld>
            <a:endParaRPr lang="en-US"/>
          </a:p>
        </p:txBody>
      </p:sp>
    </p:spTree>
    <p:extLst>
      <p:ext uri="{BB962C8B-B14F-4D97-AF65-F5344CB8AC3E}">
        <p14:creationId xmlns:p14="http://schemas.microsoft.com/office/powerpoint/2010/main" val="26191233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82BF-F9FD-3480-95D8-EED4984B102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37B43B-5204-5258-DA7A-9BA5E3EAF2D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6612B2-FB4E-95E2-2298-49A8D15DF91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7902EE6-717F-2628-DA0C-2E79C43D3471}"/>
              </a:ext>
            </a:extLst>
          </p:cNvPr>
          <p:cNvSpPr>
            <a:spLocks noGrp="1"/>
          </p:cNvSpPr>
          <p:nvPr>
            <p:ph type="dt" sz="half" idx="10"/>
          </p:nvPr>
        </p:nvSpPr>
        <p:spPr/>
        <p:txBody>
          <a:bodyPr/>
          <a:lstStyle/>
          <a:p>
            <a:fld id="{38EEFE1F-3EAB-5942-BB76-2051B24AF1B4}" type="datetimeFigureOut">
              <a:rPr lang="en-US" smtClean="0"/>
              <a:t>6/7/26</a:t>
            </a:fld>
            <a:endParaRPr lang="en-US"/>
          </a:p>
        </p:txBody>
      </p:sp>
      <p:sp>
        <p:nvSpPr>
          <p:cNvPr id="6" name="Footer Placeholder 5">
            <a:extLst>
              <a:ext uri="{FF2B5EF4-FFF2-40B4-BE49-F238E27FC236}">
                <a16:creationId xmlns:a16="http://schemas.microsoft.com/office/drawing/2014/main" id="{9CDECB89-5055-0C55-FE8E-77BE2476BD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61FAA8-89DA-7C6F-B32F-83F1C6A18A62}"/>
              </a:ext>
            </a:extLst>
          </p:cNvPr>
          <p:cNvSpPr>
            <a:spLocks noGrp="1"/>
          </p:cNvSpPr>
          <p:nvPr>
            <p:ph type="sldNum" sz="quarter" idx="12"/>
          </p:nvPr>
        </p:nvSpPr>
        <p:spPr/>
        <p:txBody>
          <a:bodyPr/>
          <a:lstStyle/>
          <a:p>
            <a:fld id="{195AE0D7-A498-6642-96F0-C218D73D99DC}" type="slidenum">
              <a:rPr lang="en-US" smtClean="0"/>
              <a:t>‹#›</a:t>
            </a:fld>
            <a:endParaRPr lang="en-US"/>
          </a:p>
        </p:txBody>
      </p:sp>
    </p:spTree>
    <p:extLst>
      <p:ext uri="{BB962C8B-B14F-4D97-AF65-F5344CB8AC3E}">
        <p14:creationId xmlns:p14="http://schemas.microsoft.com/office/powerpoint/2010/main" val="29755375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7D1F3-FCE0-CADB-51A0-003C317819E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1A8DF92-B9A3-AEA0-A24E-3F4F974AA0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3564E0D-5B55-1B01-0F24-D98582D1C15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CD81A2-FF34-5BBA-E6CF-843BE6505DD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5E311F0-5253-FED9-C204-0E86E873FAD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52A7404-B020-43F1-BD6D-DAD42C4908BA}"/>
              </a:ext>
            </a:extLst>
          </p:cNvPr>
          <p:cNvSpPr>
            <a:spLocks noGrp="1"/>
          </p:cNvSpPr>
          <p:nvPr>
            <p:ph type="dt" sz="half" idx="10"/>
          </p:nvPr>
        </p:nvSpPr>
        <p:spPr/>
        <p:txBody>
          <a:bodyPr/>
          <a:lstStyle/>
          <a:p>
            <a:fld id="{38EEFE1F-3EAB-5942-BB76-2051B24AF1B4}" type="datetimeFigureOut">
              <a:rPr lang="en-US" smtClean="0"/>
              <a:t>6/7/26</a:t>
            </a:fld>
            <a:endParaRPr lang="en-US"/>
          </a:p>
        </p:txBody>
      </p:sp>
      <p:sp>
        <p:nvSpPr>
          <p:cNvPr id="8" name="Footer Placeholder 7">
            <a:extLst>
              <a:ext uri="{FF2B5EF4-FFF2-40B4-BE49-F238E27FC236}">
                <a16:creationId xmlns:a16="http://schemas.microsoft.com/office/drawing/2014/main" id="{FE79EFB3-C559-85DA-9A1A-54176C99565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E0413B4-9BEA-7BE3-D5D7-A624AB74FB2A}"/>
              </a:ext>
            </a:extLst>
          </p:cNvPr>
          <p:cNvSpPr>
            <a:spLocks noGrp="1"/>
          </p:cNvSpPr>
          <p:nvPr>
            <p:ph type="sldNum" sz="quarter" idx="12"/>
          </p:nvPr>
        </p:nvSpPr>
        <p:spPr/>
        <p:txBody>
          <a:bodyPr/>
          <a:lstStyle/>
          <a:p>
            <a:fld id="{195AE0D7-A498-6642-96F0-C218D73D99DC}" type="slidenum">
              <a:rPr lang="en-US" smtClean="0"/>
              <a:t>‹#›</a:t>
            </a:fld>
            <a:endParaRPr lang="en-US"/>
          </a:p>
        </p:txBody>
      </p:sp>
    </p:spTree>
    <p:extLst>
      <p:ext uri="{BB962C8B-B14F-4D97-AF65-F5344CB8AC3E}">
        <p14:creationId xmlns:p14="http://schemas.microsoft.com/office/powerpoint/2010/main" val="14726008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57AD3-1F6E-4149-6145-1BD8F721F95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B273DB2-3D99-CE89-A21B-0D41FD45CF58}"/>
              </a:ext>
            </a:extLst>
          </p:cNvPr>
          <p:cNvSpPr>
            <a:spLocks noGrp="1"/>
          </p:cNvSpPr>
          <p:nvPr>
            <p:ph type="dt" sz="half" idx="10"/>
          </p:nvPr>
        </p:nvSpPr>
        <p:spPr/>
        <p:txBody>
          <a:bodyPr/>
          <a:lstStyle/>
          <a:p>
            <a:fld id="{38EEFE1F-3EAB-5942-BB76-2051B24AF1B4}" type="datetimeFigureOut">
              <a:rPr lang="en-US" smtClean="0"/>
              <a:t>6/7/26</a:t>
            </a:fld>
            <a:endParaRPr lang="en-US"/>
          </a:p>
        </p:txBody>
      </p:sp>
      <p:sp>
        <p:nvSpPr>
          <p:cNvPr id="4" name="Footer Placeholder 3">
            <a:extLst>
              <a:ext uri="{FF2B5EF4-FFF2-40B4-BE49-F238E27FC236}">
                <a16:creationId xmlns:a16="http://schemas.microsoft.com/office/drawing/2014/main" id="{E99C6C1D-85B2-2AD6-E316-C54848077BF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F0E44AC-D8AF-90F2-95F7-FE20E1DEACCD}"/>
              </a:ext>
            </a:extLst>
          </p:cNvPr>
          <p:cNvSpPr>
            <a:spLocks noGrp="1"/>
          </p:cNvSpPr>
          <p:nvPr>
            <p:ph type="sldNum" sz="quarter" idx="12"/>
          </p:nvPr>
        </p:nvSpPr>
        <p:spPr/>
        <p:txBody>
          <a:bodyPr/>
          <a:lstStyle/>
          <a:p>
            <a:fld id="{195AE0D7-A498-6642-96F0-C218D73D99DC}" type="slidenum">
              <a:rPr lang="en-US" smtClean="0"/>
              <a:t>‹#›</a:t>
            </a:fld>
            <a:endParaRPr lang="en-US"/>
          </a:p>
        </p:txBody>
      </p:sp>
    </p:spTree>
    <p:extLst>
      <p:ext uri="{BB962C8B-B14F-4D97-AF65-F5344CB8AC3E}">
        <p14:creationId xmlns:p14="http://schemas.microsoft.com/office/powerpoint/2010/main" val="3625757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C6277B-4C31-4AD9-DC24-AFAA6F5EA07D}"/>
              </a:ext>
            </a:extLst>
          </p:cNvPr>
          <p:cNvSpPr>
            <a:spLocks noGrp="1"/>
          </p:cNvSpPr>
          <p:nvPr>
            <p:ph type="dt" sz="half" idx="10"/>
          </p:nvPr>
        </p:nvSpPr>
        <p:spPr/>
        <p:txBody>
          <a:bodyPr/>
          <a:lstStyle/>
          <a:p>
            <a:fld id="{38EEFE1F-3EAB-5942-BB76-2051B24AF1B4}" type="datetimeFigureOut">
              <a:rPr lang="en-US" smtClean="0"/>
              <a:t>6/7/26</a:t>
            </a:fld>
            <a:endParaRPr lang="en-US"/>
          </a:p>
        </p:txBody>
      </p:sp>
      <p:sp>
        <p:nvSpPr>
          <p:cNvPr id="3" name="Footer Placeholder 2">
            <a:extLst>
              <a:ext uri="{FF2B5EF4-FFF2-40B4-BE49-F238E27FC236}">
                <a16:creationId xmlns:a16="http://schemas.microsoft.com/office/drawing/2014/main" id="{F31AA337-68A2-9D46-0427-944B4439104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42F9FB3-7B18-6395-DA13-12235531BEE5}"/>
              </a:ext>
            </a:extLst>
          </p:cNvPr>
          <p:cNvSpPr>
            <a:spLocks noGrp="1"/>
          </p:cNvSpPr>
          <p:nvPr>
            <p:ph type="sldNum" sz="quarter" idx="12"/>
          </p:nvPr>
        </p:nvSpPr>
        <p:spPr/>
        <p:txBody>
          <a:bodyPr/>
          <a:lstStyle/>
          <a:p>
            <a:fld id="{195AE0D7-A498-6642-96F0-C218D73D99DC}" type="slidenum">
              <a:rPr lang="en-US" smtClean="0"/>
              <a:t>‹#›</a:t>
            </a:fld>
            <a:endParaRPr lang="en-US"/>
          </a:p>
        </p:txBody>
      </p:sp>
    </p:spTree>
    <p:extLst>
      <p:ext uri="{BB962C8B-B14F-4D97-AF65-F5344CB8AC3E}">
        <p14:creationId xmlns:p14="http://schemas.microsoft.com/office/powerpoint/2010/main" val="4066741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3ADD0-029E-8726-F9DC-DDC20AB6A9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DC83862-C2C0-1755-DB39-E046B6B9C0B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48F9EC4-506C-B8FC-BB8C-B283A19166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70E9B9-7FEB-2CBC-65A1-FB3A2730507A}"/>
              </a:ext>
            </a:extLst>
          </p:cNvPr>
          <p:cNvSpPr>
            <a:spLocks noGrp="1"/>
          </p:cNvSpPr>
          <p:nvPr>
            <p:ph type="dt" sz="half" idx="10"/>
          </p:nvPr>
        </p:nvSpPr>
        <p:spPr/>
        <p:txBody>
          <a:bodyPr/>
          <a:lstStyle/>
          <a:p>
            <a:fld id="{38EEFE1F-3EAB-5942-BB76-2051B24AF1B4}" type="datetimeFigureOut">
              <a:rPr lang="en-US" smtClean="0"/>
              <a:t>6/7/26</a:t>
            </a:fld>
            <a:endParaRPr lang="en-US"/>
          </a:p>
        </p:txBody>
      </p:sp>
      <p:sp>
        <p:nvSpPr>
          <p:cNvPr id="6" name="Footer Placeholder 5">
            <a:extLst>
              <a:ext uri="{FF2B5EF4-FFF2-40B4-BE49-F238E27FC236}">
                <a16:creationId xmlns:a16="http://schemas.microsoft.com/office/drawing/2014/main" id="{ED150230-F98B-000A-238B-C68348F22E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28FC90-6AFE-0531-0B16-B05C02629606}"/>
              </a:ext>
            </a:extLst>
          </p:cNvPr>
          <p:cNvSpPr>
            <a:spLocks noGrp="1"/>
          </p:cNvSpPr>
          <p:nvPr>
            <p:ph type="sldNum" sz="quarter" idx="12"/>
          </p:nvPr>
        </p:nvSpPr>
        <p:spPr/>
        <p:txBody>
          <a:bodyPr/>
          <a:lstStyle/>
          <a:p>
            <a:fld id="{195AE0D7-A498-6642-96F0-C218D73D99DC}" type="slidenum">
              <a:rPr lang="en-US" smtClean="0"/>
              <a:t>‹#›</a:t>
            </a:fld>
            <a:endParaRPr lang="en-US"/>
          </a:p>
        </p:txBody>
      </p:sp>
    </p:spTree>
    <p:extLst>
      <p:ext uri="{BB962C8B-B14F-4D97-AF65-F5344CB8AC3E}">
        <p14:creationId xmlns:p14="http://schemas.microsoft.com/office/powerpoint/2010/main" val="25129694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5662B-603C-FE0F-7427-5F3E1A93E1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68058F0-1A5E-078F-B1A8-3A0FD575BC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9EFFE9F-1AEF-84D4-D6A8-08A982FC86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7F66408-C0A3-10C1-AE48-33FB9255938C}"/>
              </a:ext>
            </a:extLst>
          </p:cNvPr>
          <p:cNvSpPr>
            <a:spLocks noGrp="1"/>
          </p:cNvSpPr>
          <p:nvPr>
            <p:ph type="dt" sz="half" idx="10"/>
          </p:nvPr>
        </p:nvSpPr>
        <p:spPr/>
        <p:txBody>
          <a:bodyPr/>
          <a:lstStyle/>
          <a:p>
            <a:fld id="{38EEFE1F-3EAB-5942-BB76-2051B24AF1B4}" type="datetimeFigureOut">
              <a:rPr lang="en-US" smtClean="0"/>
              <a:t>6/7/26</a:t>
            </a:fld>
            <a:endParaRPr lang="en-US"/>
          </a:p>
        </p:txBody>
      </p:sp>
      <p:sp>
        <p:nvSpPr>
          <p:cNvPr id="6" name="Footer Placeholder 5">
            <a:extLst>
              <a:ext uri="{FF2B5EF4-FFF2-40B4-BE49-F238E27FC236}">
                <a16:creationId xmlns:a16="http://schemas.microsoft.com/office/drawing/2014/main" id="{399BDA91-437D-BD66-ADD7-68B8A92F9E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E4DCF6-7FEE-53DE-51BF-D2B2C6EB2C9B}"/>
              </a:ext>
            </a:extLst>
          </p:cNvPr>
          <p:cNvSpPr>
            <a:spLocks noGrp="1"/>
          </p:cNvSpPr>
          <p:nvPr>
            <p:ph type="sldNum" sz="quarter" idx="12"/>
          </p:nvPr>
        </p:nvSpPr>
        <p:spPr/>
        <p:txBody>
          <a:bodyPr/>
          <a:lstStyle/>
          <a:p>
            <a:fld id="{195AE0D7-A498-6642-96F0-C218D73D99DC}" type="slidenum">
              <a:rPr lang="en-US" smtClean="0"/>
              <a:t>‹#›</a:t>
            </a:fld>
            <a:endParaRPr lang="en-US"/>
          </a:p>
        </p:txBody>
      </p:sp>
    </p:spTree>
    <p:extLst>
      <p:ext uri="{BB962C8B-B14F-4D97-AF65-F5344CB8AC3E}">
        <p14:creationId xmlns:p14="http://schemas.microsoft.com/office/powerpoint/2010/main" val="13523222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9F73D-8C1D-211C-33DE-EB27D1076AD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8373139-382C-7AF2-9B66-0ECB0CFAE0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45084D-78E4-B54E-4B93-85FA2E462E4D}"/>
              </a:ext>
            </a:extLst>
          </p:cNvPr>
          <p:cNvSpPr>
            <a:spLocks noGrp="1"/>
          </p:cNvSpPr>
          <p:nvPr>
            <p:ph type="dt" sz="half" idx="10"/>
          </p:nvPr>
        </p:nvSpPr>
        <p:spPr/>
        <p:txBody>
          <a:bodyPr/>
          <a:lstStyle/>
          <a:p>
            <a:fld id="{38EEFE1F-3EAB-5942-BB76-2051B24AF1B4}" type="datetimeFigureOut">
              <a:rPr lang="en-US" smtClean="0"/>
              <a:t>6/7/26</a:t>
            </a:fld>
            <a:endParaRPr lang="en-US"/>
          </a:p>
        </p:txBody>
      </p:sp>
      <p:sp>
        <p:nvSpPr>
          <p:cNvPr id="5" name="Footer Placeholder 4">
            <a:extLst>
              <a:ext uri="{FF2B5EF4-FFF2-40B4-BE49-F238E27FC236}">
                <a16:creationId xmlns:a16="http://schemas.microsoft.com/office/drawing/2014/main" id="{17812D67-50E9-E671-C824-9499273971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EEABF1-43B3-9A7C-F829-B3ABB262FC90}"/>
              </a:ext>
            </a:extLst>
          </p:cNvPr>
          <p:cNvSpPr>
            <a:spLocks noGrp="1"/>
          </p:cNvSpPr>
          <p:nvPr>
            <p:ph type="sldNum" sz="quarter" idx="12"/>
          </p:nvPr>
        </p:nvSpPr>
        <p:spPr/>
        <p:txBody>
          <a:bodyPr/>
          <a:lstStyle/>
          <a:p>
            <a:fld id="{195AE0D7-A498-6642-96F0-C218D73D99DC}" type="slidenum">
              <a:rPr lang="en-US" smtClean="0"/>
              <a:t>‹#›</a:t>
            </a:fld>
            <a:endParaRPr lang="en-US"/>
          </a:p>
        </p:txBody>
      </p:sp>
    </p:spTree>
    <p:extLst>
      <p:ext uri="{BB962C8B-B14F-4D97-AF65-F5344CB8AC3E}">
        <p14:creationId xmlns:p14="http://schemas.microsoft.com/office/powerpoint/2010/main" val="14285432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1F2F7F-4604-00B4-9324-4C00798DC29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754CC9D-D453-A299-7500-50F5BCAB676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6D8589-C1BB-9778-5C0A-0F695B70AF77}"/>
              </a:ext>
            </a:extLst>
          </p:cNvPr>
          <p:cNvSpPr>
            <a:spLocks noGrp="1"/>
          </p:cNvSpPr>
          <p:nvPr>
            <p:ph type="dt" sz="half" idx="10"/>
          </p:nvPr>
        </p:nvSpPr>
        <p:spPr/>
        <p:txBody>
          <a:bodyPr/>
          <a:lstStyle/>
          <a:p>
            <a:fld id="{38EEFE1F-3EAB-5942-BB76-2051B24AF1B4}" type="datetimeFigureOut">
              <a:rPr lang="en-US" smtClean="0"/>
              <a:t>6/7/26</a:t>
            </a:fld>
            <a:endParaRPr lang="en-US"/>
          </a:p>
        </p:txBody>
      </p:sp>
      <p:sp>
        <p:nvSpPr>
          <p:cNvPr id="5" name="Footer Placeholder 4">
            <a:extLst>
              <a:ext uri="{FF2B5EF4-FFF2-40B4-BE49-F238E27FC236}">
                <a16:creationId xmlns:a16="http://schemas.microsoft.com/office/drawing/2014/main" id="{50274CD9-3713-9AB5-A6B6-E2C0E1A1D2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C22344-359C-6AB9-2F3D-0550DBCAAAE5}"/>
              </a:ext>
            </a:extLst>
          </p:cNvPr>
          <p:cNvSpPr>
            <a:spLocks noGrp="1"/>
          </p:cNvSpPr>
          <p:nvPr>
            <p:ph type="sldNum" sz="quarter" idx="12"/>
          </p:nvPr>
        </p:nvSpPr>
        <p:spPr/>
        <p:txBody>
          <a:bodyPr/>
          <a:lstStyle/>
          <a:p>
            <a:fld id="{195AE0D7-A498-6642-96F0-C218D73D99DC}" type="slidenum">
              <a:rPr lang="en-US" smtClean="0"/>
              <a:t>‹#›</a:t>
            </a:fld>
            <a:endParaRPr lang="en-US"/>
          </a:p>
        </p:txBody>
      </p:sp>
    </p:spTree>
    <p:extLst>
      <p:ext uri="{BB962C8B-B14F-4D97-AF65-F5344CB8AC3E}">
        <p14:creationId xmlns:p14="http://schemas.microsoft.com/office/powerpoint/2010/main" val="13311088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E37AAE-F97D-698C-3C8F-DB1D0ED839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18FAB9F-9343-C1BD-991F-9436977FAF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F35B74-394E-51D0-437D-583C816E98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8EEFE1F-3EAB-5942-BB76-2051B24AF1B4}" type="datetimeFigureOut">
              <a:rPr lang="en-US" smtClean="0"/>
              <a:t>6/7/26</a:t>
            </a:fld>
            <a:endParaRPr lang="en-US"/>
          </a:p>
        </p:txBody>
      </p:sp>
      <p:sp>
        <p:nvSpPr>
          <p:cNvPr id="5" name="Footer Placeholder 4">
            <a:extLst>
              <a:ext uri="{FF2B5EF4-FFF2-40B4-BE49-F238E27FC236}">
                <a16:creationId xmlns:a16="http://schemas.microsoft.com/office/drawing/2014/main" id="{2B817352-E518-7EAA-6407-4D8A3BF59DC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5C0603D-A940-DA7E-E92E-92353A85551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95AE0D7-A498-6642-96F0-C218D73D99DC}" type="slidenum">
              <a:rPr lang="en-US" smtClean="0"/>
              <a:t>‹#›</a:t>
            </a:fld>
            <a:endParaRPr lang="en-US"/>
          </a:p>
        </p:txBody>
      </p:sp>
    </p:spTree>
    <p:extLst>
      <p:ext uri="{BB962C8B-B14F-4D97-AF65-F5344CB8AC3E}">
        <p14:creationId xmlns:p14="http://schemas.microsoft.com/office/powerpoint/2010/main" val="12866059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publicdomainpictures.net/de/view-image.php?image=117398&amp;picture=mond-durch-das-fenster" TargetMode="External"/><Relationship Id="rId7" Type="http://schemas.openxmlformats.org/officeDocument/2006/relationships/hyperlink" Target="https://www.flickr.com/photos/wonderlane/5417452809/" TargetMode="Externa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4.jpg"/><Relationship Id="rId5" Type="http://schemas.openxmlformats.org/officeDocument/2006/relationships/hyperlink" Target="https://pxhere.com/en/photo/963191" TargetMode="External"/><Relationship Id="rId4" Type="http://schemas.openxmlformats.org/officeDocument/2006/relationships/image" Target="../media/image3.jpg!d"/></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hyperlink" Target="https://www.janegoodwin.net/2014/06/02/things-havent-done-yet/football-player/" TargetMode="External"/><Relationship Id="rId4" Type="http://schemas.openxmlformats.org/officeDocument/2006/relationships/image" Target="../media/image7.jpg"/></Relationships>
</file>

<file path=ppt/slides/_rels/slide9.xml.rels><?xml version="1.0" encoding="UTF-8" standalone="yes"?>
<Relationships xmlns="http://schemas.openxmlformats.org/package/2006/relationships"><Relationship Id="rId3" Type="http://schemas.openxmlformats.org/officeDocument/2006/relationships/hyperlink" Target="https://www.pexels.com/photo/silhouette-of-woman-standing-near-window-3886927/" TargetMode="External"/><Relationship Id="rId2" Type="http://schemas.openxmlformats.org/officeDocument/2006/relationships/image" Target="../media/image8.jpe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hyperlink" Target="https://www.hippopx.com/en/ballet-shoes-pointe-shoes-ballet-dance-ballerina-satin-slipper-189952" TargetMode="External"/><Relationship Id="rId4" Type="http://schemas.openxmlformats.org/officeDocument/2006/relationships/image" Target="../media/image9.jpe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onionplay.st/movie/8271-watch-five-feet-apart-2019-online/" TargetMode="External"/><Relationship Id="rId7" Type="http://schemas.openxmlformats.org/officeDocument/2006/relationships/hyperlink" Target="https://losviajesdeane.blogspot.com/2014/07/" TargetMode="External"/><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5.jpg"/><Relationship Id="rId5" Type="http://schemas.openxmlformats.org/officeDocument/2006/relationships/hyperlink" Target="https://screenrant.com/romance-movies-scenes-perfect/" TargetMode="External"/><Relationship Id="rId4" Type="http://schemas.openxmlformats.org/officeDocument/2006/relationships/image" Target="../media/image14.jpeg"/></Relationships>
</file>

<file path=ppt/slides/_rels/slide1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eg"/><Relationship Id="rId1" Type="http://schemas.openxmlformats.org/officeDocument/2006/relationships/slideLayout" Target="../slideLayouts/slideLayout2.xml"/><Relationship Id="rId4" Type="http://schemas.openxmlformats.org/officeDocument/2006/relationships/hyperlink" Target="https://manoftheword.com/tag/writing/"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F31A2920-132E-F343-662F-500FF73668D3}"/>
              </a:ext>
            </a:extLst>
          </p:cNvPr>
          <p:cNvPicPr>
            <a:picLocks noChangeAspect="1"/>
          </p:cNvPicPr>
          <p:nvPr/>
        </p:nvPicPr>
        <p:blipFill rotWithShape="1">
          <a:blip r:embed="rId3"/>
          <a:srcRect l="5660" t="20853" r="31421" b="64246"/>
          <a:stretch>
            <a:fillRect/>
          </a:stretch>
        </p:blipFill>
        <p:spPr>
          <a:xfrm>
            <a:off x="0" y="1468433"/>
            <a:ext cx="12192000" cy="3252152"/>
          </a:xfrm>
          <a:prstGeom prst="rect">
            <a:avLst/>
          </a:prstGeom>
        </p:spPr>
      </p:pic>
      <p:sp>
        <p:nvSpPr>
          <p:cNvPr id="2" name="Title 1">
            <a:extLst>
              <a:ext uri="{FF2B5EF4-FFF2-40B4-BE49-F238E27FC236}">
                <a16:creationId xmlns:a16="http://schemas.microsoft.com/office/drawing/2014/main" id="{95E23C4B-8F43-F71B-2367-A29F189D5F44}"/>
              </a:ext>
            </a:extLst>
          </p:cNvPr>
          <p:cNvSpPr>
            <a:spLocks noGrp="1"/>
          </p:cNvSpPr>
          <p:nvPr>
            <p:ph type="ctrTitle"/>
          </p:nvPr>
        </p:nvSpPr>
        <p:spPr>
          <a:xfrm>
            <a:off x="1524000" y="2292315"/>
            <a:ext cx="9144000" cy="1229576"/>
          </a:xfrm>
        </p:spPr>
        <p:txBody>
          <a:bodyPr>
            <a:normAutofit/>
          </a:bodyPr>
          <a:lstStyle/>
          <a:p>
            <a:r>
              <a:rPr lang="en-US" sz="4500" dirty="0">
                <a:solidFill>
                  <a:srgbClr val="FFFFFF"/>
                </a:solidFill>
                <a:latin typeface="Montserrat" pitchFamily="2" charset="77"/>
                <a:ea typeface="ADLaM Display" panose="02010000000000000000" pitchFamily="2" charset="77"/>
                <a:cs typeface="ADLaM Display" panose="02010000000000000000" pitchFamily="2" charset="77"/>
              </a:rPr>
              <a:t>The Ones Who Stay</a:t>
            </a:r>
          </a:p>
        </p:txBody>
      </p:sp>
      <p:sp>
        <p:nvSpPr>
          <p:cNvPr id="3" name="Subtitle 2">
            <a:extLst>
              <a:ext uri="{FF2B5EF4-FFF2-40B4-BE49-F238E27FC236}">
                <a16:creationId xmlns:a16="http://schemas.microsoft.com/office/drawing/2014/main" id="{B3281E8B-43BD-5D1E-9A1D-497CB2CA4512}"/>
              </a:ext>
            </a:extLst>
          </p:cNvPr>
          <p:cNvSpPr>
            <a:spLocks noGrp="1"/>
          </p:cNvSpPr>
          <p:nvPr>
            <p:ph type="subTitle" idx="1"/>
          </p:nvPr>
        </p:nvSpPr>
        <p:spPr>
          <a:xfrm>
            <a:off x="1524000" y="4690896"/>
            <a:ext cx="9144000" cy="1098395"/>
          </a:xfrm>
        </p:spPr>
        <p:txBody>
          <a:bodyPr>
            <a:normAutofit/>
          </a:bodyPr>
          <a:lstStyle/>
          <a:p>
            <a:endParaRPr lang="en-US" dirty="0">
              <a:solidFill>
                <a:srgbClr val="FFFFFF"/>
              </a:solidFill>
            </a:endParaRPr>
          </a:p>
          <a:p>
            <a:r>
              <a:rPr lang="en-US" sz="2000" dirty="0">
                <a:solidFill>
                  <a:srgbClr val="FFFFFF"/>
                </a:solidFill>
                <a:latin typeface="Montserrat" pitchFamily="2" charset="77"/>
              </a:rPr>
              <a:t>Written by: William Kapadia</a:t>
            </a:r>
          </a:p>
        </p:txBody>
      </p:sp>
      <p:sp>
        <p:nvSpPr>
          <p:cNvPr id="4" name="TextBox 3">
            <a:extLst>
              <a:ext uri="{FF2B5EF4-FFF2-40B4-BE49-F238E27FC236}">
                <a16:creationId xmlns:a16="http://schemas.microsoft.com/office/drawing/2014/main" id="{674AB188-AF6E-AC11-CBBA-4C23BD501CEF}"/>
              </a:ext>
            </a:extLst>
          </p:cNvPr>
          <p:cNvSpPr txBox="1"/>
          <p:nvPr/>
        </p:nvSpPr>
        <p:spPr>
          <a:xfrm>
            <a:off x="4360364" y="4170866"/>
            <a:ext cx="3471271" cy="369332"/>
          </a:xfrm>
          <a:prstGeom prst="rect">
            <a:avLst/>
          </a:prstGeom>
          <a:noFill/>
        </p:spPr>
        <p:txBody>
          <a:bodyPr wrap="none" rtlCol="0">
            <a:spAutoFit/>
          </a:bodyPr>
          <a:lstStyle/>
          <a:p>
            <a:r>
              <a:rPr lang="en-US" dirty="0"/>
              <a:t>Some </a:t>
            </a:r>
            <a:r>
              <a:rPr lang="en-US" dirty="0">
                <a:latin typeface="Montserrat" pitchFamily="2" charset="77"/>
              </a:rPr>
              <a:t>Promises</a:t>
            </a:r>
            <a:r>
              <a:rPr lang="en-US" dirty="0"/>
              <a:t> Cost Everything</a:t>
            </a:r>
          </a:p>
        </p:txBody>
      </p:sp>
      <p:cxnSp>
        <p:nvCxnSpPr>
          <p:cNvPr id="5" name="Straight Connector 4">
            <a:extLst>
              <a:ext uri="{FF2B5EF4-FFF2-40B4-BE49-F238E27FC236}">
                <a16:creationId xmlns:a16="http://schemas.microsoft.com/office/drawing/2014/main" id="{2D61D4A1-FE3E-0C43-BCDA-F835F1D4C03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384000" y="3811091"/>
            <a:ext cx="54552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33241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A76FB51A-268A-F376-E669-256BAC7E154E}"/>
              </a:ext>
            </a:extLst>
          </p:cNvPr>
          <p:cNvSpPr>
            <a:spLocks noGrp="1"/>
          </p:cNvSpPr>
          <p:nvPr>
            <p:ph type="title"/>
          </p:nvPr>
        </p:nvSpPr>
        <p:spPr>
          <a:xfrm>
            <a:off x="1014141" y="1450655"/>
            <a:ext cx="3932030" cy="3956690"/>
          </a:xfrm>
        </p:spPr>
        <p:txBody>
          <a:bodyPr anchor="ctr">
            <a:normAutofit/>
          </a:bodyPr>
          <a:lstStyle/>
          <a:p>
            <a:r>
              <a:rPr lang="en-US" sz="7400">
                <a:solidFill>
                  <a:schemeClr val="bg1"/>
                </a:solidFill>
                <a:latin typeface="Montserrat" pitchFamily="2" charset="77"/>
              </a:rPr>
              <a:t>Logline</a:t>
            </a:r>
          </a:p>
        </p:txBody>
      </p:sp>
      <p:cxnSp>
        <p:nvCxnSpPr>
          <p:cNvPr id="11" name="Straight Connector 10">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ABDF210-7D3B-BF10-96DD-88B42C121FBB}"/>
              </a:ext>
            </a:extLst>
          </p:cNvPr>
          <p:cNvSpPr>
            <a:spLocks noGrp="1"/>
          </p:cNvSpPr>
          <p:nvPr>
            <p:ph idx="1"/>
          </p:nvPr>
        </p:nvSpPr>
        <p:spPr>
          <a:xfrm>
            <a:off x="6096000" y="1108061"/>
            <a:ext cx="5008901" cy="4571972"/>
          </a:xfrm>
        </p:spPr>
        <p:txBody>
          <a:bodyPr anchor="ctr">
            <a:normAutofit/>
          </a:bodyPr>
          <a:lstStyle/>
          <a:p>
            <a:pPr marL="0" indent="0">
              <a:buNone/>
            </a:pPr>
            <a:r>
              <a:rPr lang="en-US" sz="2000" dirty="0">
                <a:solidFill>
                  <a:schemeClr val="bg1"/>
                </a:solidFill>
                <a:latin typeface="Montserrat" pitchFamily="2" charset="77"/>
              </a:rPr>
              <a:t>A high school football star forms an unlikely bond with the terminally ill girl living across from him. When her life hangs in the balance, he must choose between the future he's spent years chasing and the girl he can't bear to lose.</a:t>
            </a:r>
          </a:p>
        </p:txBody>
      </p:sp>
    </p:spTree>
    <p:extLst>
      <p:ext uri="{BB962C8B-B14F-4D97-AF65-F5344CB8AC3E}">
        <p14:creationId xmlns:p14="http://schemas.microsoft.com/office/powerpoint/2010/main" val="30463478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5E8B0C43-926C-03CB-BEA3-A35163456486}"/>
              </a:ext>
            </a:extLst>
          </p:cNvPr>
          <p:cNvSpPr>
            <a:spLocks noGrp="1"/>
          </p:cNvSpPr>
          <p:nvPr>
            <p:ph type="title"/>
          </p:nvPr>
        </p:nvSpPr>
        <p:spPr>
          <a:xfrm>
            <a:off x="838200" y="669925"/>
            <a:ext cx="4508946" cy="1325563"/>
          </a:xfrm>
        </p:spPr>
        <p:txBody>
          <a:bodyPr anchor="b">
            <a:normAutofit/>
          </a:bodyPr>
          <a:lstStyle/>
          <a:p>
            <a:pPr algn="r"/>
            <a:r>
              <a:rPr lang="en-US">
                <a:solidFill>
                  <a:schemeClr val="bg1"/>
                </a:solidFill>
                <a:latin typeface="Montserrat" pitchFamily="2" charset="77"/>
              </a:rPr>
              <a:t>Why this story matters</a:t>
            </a:r>
          </a:p>
        </p:txBody>
      </p:sp>
      <p:cxnSp>
        <p:nvCxnSpPr>
          <p:cNvPr id="11" name="Straight Connector 10">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0" y="2026340"/>
            <a:ext cx="534714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69E2DBD-D487-C7CF-31EB-BF8DF0342C89}"/>
              </a:ext>
            </a:extLst>
          </p:cNvPr>
          <p:cNvSpPr>
            <a:spLocks noGrp="1"/>
          </p:cNvSpPr>
          <p:nvPr>
            <p:ph idx="1"/>
          </p:nvPr>
        </p:nvSpPr>
        <p:spPr>
          <a:xfrm>
            <a:off x="1392667" y="2398957"/>
            <a:ext cx="9406666" cy="3526144"/>
          </a:xfrm>
        </p:spPr>
        <p:txBody>
          <a:bodyPr>
            <a:normAutofit/>
          </a:bodyPr>
          <a:lstStyle/>
          <a:p>
            <a:r>
              <a:rPr lang="en-US" sz="1700" b="1">
                <a:solidFill>
                  <a:schemeClr val="bg1"/>
                </a:solidFill>
              </a:rPr>
              <a:t>It challenges what success really means.</a:t>
            </a:r>
            <a:endParaRPr lang="en-US" sz="1700">
              <a:solidFill>
                <a:schemeClr val="bg1"/>
              </a:solidFill>
            </a:endParaRPr>
          </a:p>
          <a:p>
            <a:pPr marL="457200" lvl="1" indent="0">
              <a:buNone/>
            </a:pPr>
            <a:r>
              <a:rPr lang="en-US" sz="1700">
                <a:solidFill>
                  <a:schemeClr val="bg1"/>
                </a:solidFill>
              </a:rPr>
              <a:t>When faced with the possibility of losing someone he loves, Noah begins questioning whether achievement matters more than connection.</a:t>
            </a:r>
          </a:p>
          <a:p>
            <a:r>
              <a:rPr lang="en-US" sz="1700" b="1">
                <a:solidFill>
                  <a:schemeClr val="bg1"/>
                </a:solidFill>
              </a:rPr>
              <a:t>It gives a voice to lives often overlooked.</a:t>
            </a:r>
            <a:endParaRPr lang="en-US" sz="1700">
              <a:solidFill>
                <a:schemeClr val="bg1"/>
              </a:solidFill>
            </a:endParaRPr>
          </a:p>
          <a:p>
            <a:pPr marL="457200" lvl="1" indent="0">
              <a:buNone/>
            </a:pPr>
            <a:r>
              <a:rPr lang="en-US" sz="1700">
                <a:solidFill>
                  <a:schemeClr val="bg1"/>
                </a:solidFill>
              </a:rPr>
              <a:t>Ava's story explores chronic illness, isolation, and the desire to be seen as more than a diagnosis.</a:t>
            </a:r>
          </a:p>
          <a:p>
            <a:r>
              <a:rPr lang="en-US" sz="1700" b="1">
                <a:solidFill>
                  <a:schemeClr val="bg1"/>
                </a:solidFill>
              </a:rPr>
              <a:t>It explores the hidden struggles people carry.</a:t>
            </a:r>
            <a:endParaRPr lang="en-US" sz="1700">
              <a:solidFill>
                <a:schemeClr val="bg1"/>
              </a:solidFill>
            </a:endParaRPr>
          </a:p>
          <a:p>
            <a:pPr marL="457200" lvl="1" indent="0">
              <a:buNone/>
            </a:pPr>
            <a:r>
              <a:rPr lang="en-US" sz="1700">
                <a:solidFill>
                  <a:schemeClr val="bg1"/>
                </a:solidFill>
              </a:rPr>
              <a:t>Not every battle is visible.</a:t>
            </a:r>
          </a:p>
          <a:p>
            <a:r>
              <a:rPr lang="en-US" sz="1700" b="1">
                <a:solidFill>
                  <a:schemeClr val="bg1"/>
                </a:solidFill>
              </a:rPr>
              <a:t>It celebrates the people who stay.</a:t>
            </a:r>
            <a:endParaRPr lang="en-US" sz="1700">
              <a:solidFill>
                <a:schemeClr val="bg1"/>
              </a:solidFill>
            </a:endParaRPr>
          </a:p>
          <a:p>
            <a:pPr marL="457200" lvl="1" indent="0">
              <a:buNone/>
            </a:pPr>
            <a:r>
              <a:rPr lang="en-US" sz="1700">
                <a:solidFill>
                  <a:schemeClr val="bg1"/>
                </a:solidFill>
              </a:rPr>
              <a:t>At its core, the film is about choosing presence over convenience, love over certainty, and people over expectations.</a:t>
            </a:r>
          </a:p>
          <a:p>
            <a:pPr marL="0" lvl="0" indent="0" eaLnBrk="0" fontAlgn="base" hangingPunct="0">
              <a:spcBef>
                <a:spcPct val="0"/>
              </a:spcBef>
              <a:spcAft>
                <a:spcPct val="0"/>
              </a:spcAft>
              <a:buNone/>
            </a:pPr>
            <a:endParaRPr lang="en-US" altLang="en-US" sz="1700">
              <a:solidFill>
                <a:schemeClr val="bg1"/>
              </a:solidFill>
              <a:latin typeface="Arial" panose="020B0604020202020204" pitchFamily="34" charset="0"/>
            </a:endParaRPr>
          </a:p>
        </p:txBody>
      </p:sp>
    </p:spTree>
    <p:extLst>
      <p:ext uri="{BB962C8B-B14F-4D97-AF65-F5344CB8AC3E}">
        <p14:creationId xmlns:p14="http://schemas.microsoft.com/office/powerpoint/2010/main" val="1986017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C0352DA-C6E2-EEF5-A3BB-48B501B3B707}"/>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561F2090-6505-0A4A-B59D-D9607AFBD6E0}"/>
              </a:ext>
            </a:extLst>
          </p:cNvPr>
          <p:cNvSpPr>
            <a:spLocks noGrp="1"/>
          </p:cNvSpPr>
          <p:nvPr>
            <p:ph type="title"/>
          </p:nvPr>
        </p:nvSpPr>
        <p:spPr>
          <a:xfrm>
            <a:off x="1014141" y="1450655"/>
            <a:ext cx="3932030" cy="3956690"/>
          </a:xfrm>
        </p:spPr>
        <p:txBody>
          <a:bodyPr anchor="ctr">
            <a:normAutofit/>
          </a:bodyPr>
          <a:lstStyle/>
          <a:p>
            <a:r>
              <a:rPr lang="en-US" sz="6800">
                <a:solidFill>
                  <a:schemeClr val="bg1"/>
                </a:solidFill>
                <a:latin typeface="Montserrat" pitchFamily="2" charset="77"/>
              </a:rPr>
              <a:t>The Window</a:t>
            </a:r>
          </a:p>
        </p:txBody>
      </p:sp>
      <p:cxnSp>
        <p:nvCxnSpPr>
          <p:cNvPr id="13" name="Straight Connector 12">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D01DB965-DDC7-3A7C-E200-0B8BE79EA121}"/>
              </a:ext>
            </a:extLst>
          </p:cNvPr>
          <p:cNvSpPr>
            <a:spLocks noGrp="1"/>
          </p:cNvSpPr>
          <p:nvPr>
            <p:ph idx="1"/>
          </p:nvPr>
        </p:nvSpPr>
        <p:spPr>
          <a:xfrm>
            <a:off x="6096000" y="1108061"/>
            <a:ext cx="5008901" cy="4571972"/>
          </a:xfrm>
        </p:spPr>
        <p:txBody>
          <a:bodyPr anchor="ctr">
            <a:normAutofit/>
          </a:bodyPr>
          <a:lstStyle/>
          <a:p>
            <a:pPr marL="0" indent="0">
              <a:buNone/>
            </a:pPr>
            <a:r>
              <a:rPr lang="en-US" sz="2000" b="1" dirty="0">
                <a:solidFill>
                  <a:schemeClr val="bg1"/>
                </a:solidFill>
              </a:rPr>
              <a:t>Every Night at 8:30</a:t>
            </a:r>
          </a:p>
          <a:p>
            <a:pPr marL="0" indent="0">
              <a:buNone/>
            </a:pPr>
            <a:r>
              <a:rPr lang="en-US" sz="2000" b="1" dirty="0">
                <a:solidFill>
                  <a:schemeClr val="bg1"/>
                </a:solidFill>
              </a:rPr>
              <a:t>Two Bedrooms</a:t>
            </a:r>
          </a:p>
          <a:p>
            <a:pPr marL="0" indent="0">
              <a:buNone/>
            </a:pPr>
            <a:r>
              <a:rPr lang="en-US" sz="2000" b="1" dirty="0">
                <a:solidFill>
                  <a:schemeClr val="bg1"/>
                </a:solidFill>
              </a:rPr>
              <a:t>Two Lives</a:t>
            </a:r>
          </a:p>
          <a:p>
            <a:pPr marL="0" indent="0">
              <a:buNone/>
            </a:pPr>
            <a:r>
              <a:rPr lang="en-US" sz="2000" b="1" dirty="0">
                <a:solidFill>
                  <a:schemeClr val="bg1"/>
                </a:solidFill>
              </a:rPr>
              <a:t>One Connection</a:t>
            </a:r>
            <a:endParaRPr lang="en-US" sz="2000">
              <a:solidFill>
                <a:schemeClr val="bg1"/>
              </a:solidFill>
            </a:endParaRPr>
          </a:p>
          <a:p>
            <a:pPr marL="0" lvl="0" indent="0" eaLnBrk="0" fontAlgn="base" hangingPunct="0">
              <a:spcBef>
                <a:spcPct val="0"/>
              </a:spcBef>
              <a:spcAft>
                <a:spcPct val="0"/>
              </a:spcAft>
              <a:buNone/>
            </a:pPr>
            <a:endParaRPr lang="en-US" altLang="en-US" sz="2000">
              <a:solidFill>
                <a:schemeClr val="bg1"/>
              </a:solidFill>
              <a:latin typeface="Arial" panose="020B0604020202020204" pitchFamily="34" charset="0"/>
            </a:endParaRPr>
          </a:p>
        </p:txBody>
      </p:sp>
    </p:spTree>
    <p:extLst>
      <p:ext uri="{BB962C8B-B14F-4D97-AF65-F5344CB8AC3E}">
        <p14:creationId xmlns:p14="http://schemas.microsoft.com/office/powerpoint/2010/main" val="10279085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9CDEF987-B4E8-0FC7-6AF3-0B8E0F6E7A51}"/>
              </a:ext>
            </a:extLst>
          </p:cNvPr>
          <p:cNvSpPr>
            <a:spLocks noGrp="1"/>
          </p:cNvSpPr>
          <p:nvPr>
            <p:ph type="title"/>
          </p:nvPr>
        </p:nvSpPr>
        <p:spPr>
          <a:xfrm>
            <a:off x="838200" y="669925"/>
            <a:ext cx="4508946" cy="1325563"/>
          </a:xfrm>
        </p:spPr>
        <p:txBody>
          <a:bodyPr anchor="b">
            <a:normAutofit/>
          </a:bodyPr>
          <a:lstStyle/>
          <a:p>
            <a:pPr algn="r"/>
            <a:r>
              <a:rPr lang="en-US">
                <a:solidFill>
                  <a:schemeClr val="bg1"/>
                </a:solidFill>
                <a:latin typeface="Montserrat" pitchFamily="2" charset="77"/>
              </a:rPr>
              <a:t>Synopsis</a:t>
            </a:r>
          </a:p>
        </p:txBody>
      </p:sp>
      <p:cxnSp>
        <p:nvCxnSpPr>
          <p:cNvPr id="17" name="Straight Connector 16">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0" y="2026340"/>
            <a:ext cx="534714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37974FE7-C110-CC85-2323-2E3486FBD581}"/>
              </a:ext>
            </a:extLst>
          </p:cNvPr>
          <p:cNvSpPr>
            <a:spLocks noGrp="1"/>
          </p:cNvSpPr>
          <p:nvPr>
            <p:ph idx="1"/>
          </p:nvPr>
        </p:nvSpPr>
        <p:spPr>
          <a:xfrm>
            <a:off x="1392667" y="2398957"/>
            <a:ext cx="9406666" cy="3526144"/>
          </a:xfrm>
        </p:spPr>
        <p:txBody>
          <a:bodyPr>
            <a:normAutofit/>
          </a:bodyPr>
          <a:lstStyle/>
          <a:p>
            <a:pPr marL="0" indent="0">
              <a:buNone/>
            </a:pPr>
            <a:r>
              <a:rPr lang="en-US" sz="2000" dirty="0">
                <a:solidFill>
                  <a:schemeClr val="bg1"/>
                </a:solidFill>
                <a:latin typeface="Montserrat" pitchFamily="2" charset="77"/>
              </a:rPr>
              <a:t>After moving to a new neighborhood, Noah noticed Ava, the chronically ill girl next door. Through their facing bedroom windows, an unexpected friendship begins.</a:t>
            </a:r>
          </a:p>
          <a:p>
            <a:pPr marL="0" indent="0">
              <a:buNone/>
            </a:pPr>
            <a:r>
              <a:rPr lang="en-US" sz="2000" dirty="0">
                <a:solidFill>
                  <a:schemeClr val="bg1"/>
                </a:solidFill>
                <a:latin typeface="Montserrat" pitchFamily="2" charset="77"/>
              </a:rPr>
              <a:t>What started as exchanged notes and late-night conversations grows into something deeper. As Ava’s health declines, Noah finds himself questioning the future he’s spent years working for.</a:t>
            </a:r>
          </a:p>
          <a:p>
            <a:pPr marL="0" indent="0">
              <a:buNone/>
            </a:pPr>
            <a:r>
              <a:rPr lang="en-US" sz="2000" dirty="0">
                <a:solidFill>
                  <a:schemeClr val="bg1"/>
                </a:solidFill>
                <a:latin typeface="Montserrat" pitchFamily="2" charset="77"/>
              </a:rPr>
              <a:t>When Ava’s life is slipping, Noah makes a choice that could cost him everything.</a:t>
            </a:r>
          </a:p>
        </p:txBody>
      </p:sp>
    </p:spTree>
    <p:extLst>
      <p:ext uri="{BB962C8B-B14F-4D97-AF65-F5344CB8AC3E}">
        <p14:creationId xmlns:p14="http://schemas.microsoft.com/office/powerpoint/2010/main" val="1428186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E0D25DFA-C3C5-A7FF-D56C-DDC2BB573084}"/>
              </a:ext>
            </a:extLst>
          </p:cNvPr>
          <p:cNvSpPr>
            <a:spLocks noGrp="1"/>
          </p:cNvSpPr>
          <p:nvPr>
            <p:ph type="title"/>
          </p:nvPr>
        </p:nvSpPr>
        <p:spPr>
          <a:xfrm>
            <a:off x="1014141" y="1450655"/>
            <a:ext cx="3932030" cy="3956690"/>
          </a:xfrm>
        </p:spPr>
        <p:txBody>
          <a:bodyPr anchor="ctr">
            <a:normAutofit/>
          </a:bodyPr>
          <a:lstStyle/>
          <a:p>
            <a:r>
              <a:rPr lang="en-US" sz="5600">
                <a:solidFill>
                  <a:schemeClr val="bg1"/>
                </a:solidFill>
                <a:latin typeface="Montserrat" pitchFamily="2" charset="77"/>
              </a:rPr>
              <a:t>At its core, </a:t>
            </a:r>
            <a:r>
              <a:rPr lang="en-US" sz="5600" i="1">
                <a:solidFill>
                  <a:schemeClr val="bg1"/>
                </a:solidFill>
                <a:latin typeface="Montserrat" pitchFamily="2" charset="77"/>
              </a:rPr>
              <a:t>The Ones Who Stay</a:t>
            </a:r>
            <a:r>
              <a:rPr lang="en-US" sz="5600">
                <a:solidFill>
                  <a:schemeClr val="bg1"/>
                </a:solidFill>
                <a:latin typeface="Montserrat" pitchFamily="2" charset="77"/>
              </a:rPr>
              <a:t> explores:</a:t>
            </a:r>
          </a:p>
        </p:txBody>
      </p:sp>
      <p:cxnSp>
        <p:nvCxnSpPr>
          <p:cNvPr id="11" name="Straight Connector 10">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986E9BF-344E-A1C8-6AA7-3DC98259A90C}"/>
              </a:ext>
            </a:extLst>
          </p:cNvPr>
          <p:cNvSpPr>
            <a:spLocks noGrp="1"/>
          </p:cNvSpPr>
          <p:nvPr>
            <p:ph idx="1"/>
          </p:nvPr>
        </p:nvSpPr>
        <p:spPr>
          <a:xfrm>
            <a:off x="6096000" y="1108061"/>
            <a:ext cx="5008901" cy="4571972"/>
          </a:xfrm>
        </p:spPr>
        <p:txBody>
          <a:bodyPr anchor="ctr">
            <a:normAutofit/>
          </a:bodyPr>
          <a:lstStyle/>
          <a:p>
            <a:r>
              <a:rPr lang="en-US" sz="2000" dirty="0">
                <a:solidFill>
                  <a:schemeClr val="bg1"/>
                </a:solidFill>
                <a:latin typeface="Montserrat" pitchFamily="2" charset="77"/>
              </a:rPr>
              <a:t>What really makes life meaningful?</a:t>
            </a:r>
          </a:p>
          <a:p>
            <a:r>
              <a:rPr lang="en-US" sz="2000" dirty="0">
                <a:solidFill>
                  <a:schemeClr val="bg1"/>
                </a:solidFill>
                <a:latin typeface="Montserrat" pitchFamily="2" charset="77"/>
              </a:rPr>
              <a:t>What is a person willing to sacrifice for love?</a:t>
            </a:r>
          </a:p>
          <a:p>
            <a:r>
              <a:rPr lang="en-US" sz="2000" dirty="0">
                <a:solidFill>
                  <a:schemeClr val="bg1"/>
                </a:solidFill>
                <a:latin typeface="Montserrat" pitchFamily="2" charset="77"/>
              </a:rPr>
              <a:t>Why do some people stay when others leave?</a:t>
            </a:r>
          </a:p>
          <a:p>
            <a:pPr marL="0" indent="0">
              <a:buNone/>
            </a:pPr>
            <a:endParaRPr lang="en-US" sz="2000" dirty="0">
              <a:solidFill>
                <a:schemeClr val="bg1"/>
              </a:solidFill>
              <a:latin typeface="Montserrat" pitchFamily="2" charset="77"/>
            </a:endParaRPr>
          </a:p>
        </p:txBody>
      </p:sp>
    </p:spTree>
    <p:extLst>
      <p:ext uri="{BB962C8B-B14F-4D97-AF65-F5344CB8AC3E}">
        <p14:creationId xmlns:p14="http://schemas.microsoft.com/office/powerpoint/2010/main" val="34719979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E6659C6F-A29D-4D83-86DA-5B0289733C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6858000"/>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Mond durch das Fenster Kostenloses Stock Bild - Public Domain Pictures">
            <a:extLst>
              <a:ext uri="{FF2B5EF4-FFF2-40B4-BE49-F238E27FC236}">
                <a16:creationId xmlns:a16="http://schemas.microsoft.com/office/drawing/2014/main" id="{36F8A4F4-7379-53FA-3EF1-6DB6279C6C29}"/>
              </a:ext>
            </a:extLst>
          </p:cNvPr>
          <p:cNvPicPr>
            <a:picLocks noChangeAspect="1"/>
          </p:cNvPicPr>
          <p:nvPr/>
        </p:nvPicPr>
        <p:blipFill>
          <a:blip r:embed="rId2">
            <a:alphaModFix/>
            <a:extLst>
              <a:ext uri="{837473B0-CC2E-450A-ABE3-18F120FF3D39}">
                <a1611:picAttrSrcUrl xmlns:a1611="http://schemas.microsoft.com/office/drawing/2016/11/main" r:id="rId3"/>
              </a:ext>
            </a:extLst>
          </a:blip>
          <a:srcRect l="40193" r="-2" b="-2"/>
          <a:stretch>
            <a:fillRect/>
          </a:stretch>
        </p:blipFill>
        <p:spPr>
          <a:xfrm>
            <a:off x="4852778" y="0"/>
            <a:ext cx="3669610" cy="3681406"/>
          </a:xfrm>
          <a:prstGeom prst="rect">
            <a:avLst/>
          </a:prstGeom>
        </p:spPr>
      </p:pic>
      <p:pic>
        <p:nvPicPr>
          <p:cNvPr id="14" name="Picture 13" descr="Free Images : light, wood, night, chair, seat, restaurant, dark, bar ...">
            <a:extLst>
              <a:ext uri="{FF2B5EF4-FFF2-40B4-BE49-F238E27FC236}">
                <a16:creationId xmlns:a16="http://schemas.microsoft.com/office/drawing/2014/main" id="{1F1241FC-FF5C-CD97-D81B-F489D49DBF9A}"/>
              </a:ext>
            </a:extLst>
          </p:cNvPr>
          <p:cNvPicPr>
            <a:picLocks noChangeAspect="1"/>
          </p:cNvPicPr>
          <p:nvPr/>
        </p:nvPicPr>
        <p:blipFill>
          <a:blip r:embed="rId4">
            <a:extLst>
              <a:ext uri="{837473B0-CC2E-450A-ABE3-18F120FF3D39}">
                <a1611:picAttrSrcUrl xmlns:a1611="http://schemas.microsoft.com/office/drawing/2016/11/main" r:id="rId5"/>
              </a:ext>
            </a:extLst>
          </a:blip>
          <a:srcRect l="7456" r="37970"/>
          <a:stretch>
            <a:fillRect/>
          </a:stretch>
        </p:blipFill>
        <p:spPr>
          <a:xfrm>
            <a:off x="8522389" y="-9"/>
            <a:ext cx="3669611" cy="3681383"/>
          </a:xfrm>
          <a:prstGeom prst="rect">
            <a:avLst/>
          </a:prstGeom>
        </p:spPr>
      </p:pic>
      <p:pic>
        <p:nvPicPr>
          <p:cNvPr id="9" name="Picture 8" descr="Night drizzle in the neighborhood, contemporary Dutch Colo… | Flickr">
            <a:extLst>
              <a:ext uri="{FF2B5EF4-FFF2-40B4-BE49-F238E27FC236}">
                <a16:creationId xmlns:a16="http://schemas.microsoft.com/office/drawing/2014/main" id="{0CF491E0-20A0-C498-666C-C3F92DD23B25}"/>
              </a:ext>
            </a:extLst>
          </p:cNvPr>
          <p:cNvPicPr>
            <a:picLocks noChangeAspect="1"/>
          </p:cNvPicPr>
          <p:nvPr/>
        </p:nvPicPr>
        <p:blipFill>
          <a:blip r:embed="rId6">
            <a:extLst>
              <a:ext uri="{837473B0-CC2E-450A-ABE3-18F120FF3D39}">
                <a1611:picAttrSrcUrl xmlns:a1611="http://schemas.microsoft.com/office/drawing/2016/11/main" r:id="rId7"/>
              </a:ext>
            </a:extLst>
          </a:blip>
          <a:srcRect t="30649" r="1" b="7468"/>
          <a:stretch>
            <a:fillRect/>
          </a:stretch>
        </p:blipFill>
        <p:spPr>
          <a:xfrm>
            <a:off x="4472902" y="3681405"/>
            <a:ext cx="7719098" cy="3176595"/>
          </a:xfrm>
          <a:prstGeom prst="rect">
            <a:avLst/>
          </a:prstGeom>
        </p:spPr>
      </p:pic>
      <p:sp>
        <p:nvSpPr>
          <p:cNvPr id="21" name="Rectangle 20">
            <a:extLst>
              <a:ext uri="{FF2B5EF4-FFF2-40B4-BE49-F238E27FC236}">
                <a16:creationId xmlns:a16="http://schemas.microsoft.com/office/drawing/2014/main" id="{890DEF05-784E-4B61-89E4-04C4ECF4E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43000">
                <a:schemeClr val="tx1">
                  <a:lumMod val="95000"/>
                  <a:lumOff val="5000"/>
                </a:schemeClr>
              </a:gs>
              <a:gs pos="81000">
                <a:schemeClr val="tx1">
                  <a:lumMod val="95000"/>
                  <a:lumOff val="5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9FD960-9154-1F2F-7F71-096C86952272}"/>
              </a:ext>
            </a:extLst>
          </p:cNvPr>
          <p:cNvSpPr>
            <a:spLocks noGrp="1"/>
          </p:cNvSpPr>
          <p:nvPr>
            <p:ph type="title"/>
          </p:nvPr>
        </p:nvSpPr>
        <p:spPr>
          <a:xfrm>
            <a:off x="838200" y="1115219"/>
            <a:ext cx="5395912" cy="2387600"/>
          </a:xfrm>
        </p:spPr>
        <p:txBody>
          <a:bodyPr vert="horz" lIns="91440" tIns="45720" rIns="91440" bIns="45720" rtlCol="0" anchor="b">
            <a:normAutofit/>
          </a:bodyPr>
          <a:lstStyle/>
          <a:p>
            <a:r>
              <a:rPr lang="en-US" sz="5000" kern="1200" dirty="0">
                <a:solidFill>
                  <a:schemeClr val="bg1"/>
                </a:solidFill>
                <a:latin typeface="+mj-lt"/>
                <a:ea typeface="+mj-ea"/>
                <a:cs typeface="+mj-cs"/>
              </a:rPr>
              <a:t>Tone &amp; Feel</a:t>
            </a:r>
          </a:p>
        </p:txBody>
      </p:sp>
      <p:cxnSp>
        <p:nvCxnSpPr>
          <p:cNvPr id="23" name="Straight Connector 22">
            <a:extLst>
              <a:ext uri="{FF2B5EF4-FFF2-40B4-BE49-F238E27FC236}">
                <a16:creationId xmlns:a16="http://schemas.microsoft.com/office/drawing/2014/main" id="{C41BAEC7-F7B0-4224-8B18-8F74B7D87F0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3681408"/>
            <a:ext cx="1135379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27616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6659C6F-A29D-4D83-86DA-5B0289733C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6858000"/>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1CADF48B-4B44-6C79-B2CF-7E1E59CD215D}"/>
              </a:ext>
            </a:extLst>
          </p:cNvPr>
          <p:cNvPicPr>
            <a:picLocks noChangeAspect="1"/>
          </p:cNvPicPr>
          <p:nvPr/>
        </p:nvPicPr>
        <p:blipFill>
          <a:blip r:embed="rId2"/>
          <a:srcRect l="10898" r="15678"/>
          <a:stretch>
            <a:fillRect/>
          </a:stretch>
        </p:blipFill>
        <p:spPr>
          <a:xfrm>
            <a:off x="4472902" y="18"/>
            <a:ext cx="4049486" cy="3681383"/>
          </a:xfrm>
          <a:prstGeom prst="rect">
            <a:avLst/>
          </a:prstGeom>
        </p:spPr>
      </p:pic>
      <p:pic>
        <p:nvPicPr>
          <p:cNvPr id="8" name="Picture 7">
            <a:extLst>
              <a:ext uri="{FF2B5EF4-FFF2-40B4-BE49-F238E27FC236}">
                <a16:creationId xmlns:a16="http://schemas.microsoft.com/office/drawing/2014/main" id="{6FAAF835-E3BD-7C6A-6F78-B6F8411DFAE7}"/>
              </a:ext>
            </a:extLst>
          </p:cNvPr>
          <p:cNvPicPr>
            <a:picLocks noChangeAspect="1"/>
          </p:cNvPicPr>
          <p:nvPr/>
        </p:nvPicPr>
        <p:blipFill>
          <a:blip r:embed="rId3">
            <a:alphaModFix/>
          </a:blip>
          <a:srcRect l="33464"/>
          <a:stretch>
            <a:fillRect/>
          </a:stretch>
        </p:blipFill>
        <p:spPr>
          <a:xfrm>
            <a:off x="8522390" y="-7"/>
            <a:ext cx="3669610" cy="3681406"/>
          </a:xfrm>
          <a:prstGeom prst="rect">
            <a:avLst/>
          </a:prstGeom>
        </p:spPr>
      </p:pic>
      <p:pic>
        <p:nvPicPr>
          <p:cNvPr id="5" name="Picture 4" descr="student athlete benched, no pass, no play - Scheiss Weekly">
            <a:extLst>
              <a:ext uri="{FF2B5EF4-FFF2-40B4-BE49-F238E27FC236}">
                <a16:creationId xmlns:a16="http://schemas.microsoft.com/office/drawing/2014/main" id="{C04C699A-5142-F94A-B15F-35245441B790}"/>
              </a:ext>
            </a:extLst>
          </p:cNvPr>
          <p:cNvPicPr>
            <a:picLocks noChangeAspect="1"/>
          </p:cNvPicPr>
          <p:nvPr/>
        </p:nvPicPr>
        <p:blipFill>
          <a:blip r:embed="rId4">
            <a:extLst>
              <a:ext uri="{837473B0-CC2E-450A-ABE3-18F120FF3D39}">
                <a1611:picAttrSrcUrl xmlns:a1611="http://schemas.microsoft.com/office/drawing/2016/11/main" r:id="rId5"/>
              </a:ext>
            </a:extLst>
          </a:blip>
          <a:srcRect t="25669" r="1" b="12449"/>
          <a:stretch>
            <a:fillRect/>
          </a:stretch>
        </p:blipFill>
        <p:spPr>
          <a:xfrm>
            <a:off x="4472902" y="3681405"/>
            <a:ext cx="7719098" cy="3176595"/>
          </a:xfrm>
          <a:prstGeom prst="rect">
            <a:avLst/>
          </a:prstGeom>
        </p:spPr>
      </p:pic>
      <p:sp>
        <p:nvSpPr>
          <p:cNvPr id="17" name="Rectangle 16">
            <a:extLst>
              <a:ext uri="{FF2B5EF4-FFF2-40B4-BE49-F238E27FC236}">
                <a16:creationId xmlns:a16="http://schemas.microsoft.com/office/drawing/2014/main" id="{890DEF05-784E-4B61-89E4-04C4ECF4E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43000">
                <a:schemeClr val="tx1">
                  <a:lumMod val="95000"/>
                  <a:lumOff val="5000"/>
                </a:schemeClr>
              </a:gs>
              <a:gs pos="81000">
                <a:schemeClr val="tx1">
                  <a:lumMod val="95000"/>
                  <a:lumOff val="5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A9F3CB-E76D-9661-CA5D-17D0D1ACAD2D}"/>
              </a:ext>
            </a:extLst>
          </p:cNvPr>
          <p:cNvSpPr>
            <a:spLocks noGrp="1"/>
          </p:cNvSpPr>
          <p:nvPr>
            <p:ph type="title"/>
          </p:nvPr>
        </p:nvSpPr>
        <p:spPr>
          <a:xfrm>
            <a:off x="838200" y="1115219"/>
            <a:ext cx="5395912" cy="2387600"/>
          </a:xfrm>
        </p:spPr>
        <p:txBody>
          <a:bodyPr vert="horz" lIns="91440" tIns="45720" rIns="91440" bIns="45720" rtlCol="0" anchor="b">
            <a:normAutofit/>
          </a:bodyPr>
          <a:lstStyle/>
          <a:p>
            <a:r>
              <a:rPr lang="en-US" sz="5000" kern="1200">
                <a:solidFill>
                  <a:schemeClr val="bg1"/>
                </a:solidFill>
                <a:latin typeface="+mj-lt"/>
                <a:ea typeface="+mj-ea"/>
                <a:cs typeface="+mj-cs"/>
              </a:rPr>
              <a:t>Noah Carter</a:t>
            </a:r>
          </a:p>
        </p:txBody>
      </p:sp>
      <p:sp>
        <p:nvSpPr>
          <p:cNvPr id="3" name="Content Placeholder 2">
            <a:extLst>
              <a:ext uri="{FF2B5EF4-FFF2-40B4-BE49-F238E27FC236}">
                <a16:creationId xmlns:a16="http://schemas.microsoft.com/office/drawing/2014/main" id="{784013CB-59C1-523E-1088-D9F2CC0072EB}"/>
              </a:ext>
            </a:extLst>
          </p:cNvPr>
          <p:cNvSpPr>
            <a:spLocks noGrp="1"/>
          </p:cNvSpPr>
          <p:nvPr>
            <p:ph idx="1"/>
          </p:nvPr>
        </p:nvSpPr>
        <p:spPr>
          <a:xfrm>
            <a:off x="838200" y="3902075"/>
            <a:ext cx="5395912" cy="1655762"/>
          </a:xfrm>
        </p:spPr>
        <p:txBody>
          <a:bodyPr vert="horz" lIns="91440" tIns="45720" rIns="91440" bIns="45720" rtlCol="0">
            <a:normAutofit/>
          </a:bodyPr>
          <a:lstStyle/>
          <a:p>
            <a:pPr marL="0" indent="0">
              <a:buNone/>
            </a:pPr>
            <a:r>
              <a:rPr lang="en-US" sz="2000" kern="1200">
                <a:solidFill>
                  <a:schemeClr val="bg1"/>
                </a:solidFill>
                <a:latin typeface="+mn-lt"/>
                <a:ea typeface="+mn-ea"/>
                <a:cs typeface="+mn-cs"/>
              </a:rPr>
              <a:t>A gifted athlete forced to choose between the future he’s worked for and the girl he loves.</a:t>
            </a:r>
          </a:p>
        </p:txBody>
      </p:sp>
      <p:cxnSp>
        <p:nvCxnSpPr>
          <p:cNvPr id="19" name="Straight Connector 18">
            <a:extLst>
              <a:ext uri="{FF2B5EF4-FFF2-40B4-BE49-F238E27FC236}">
                <a16:creationId xmlns:a16="http://schemas.microsoft.com/office/drawing/2014/main" id="{C41BAEC7-F7B0-4224-8B18-8F74B7D87F0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3681408"/>
            <a:ext cx="1135379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32415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6659C6F-A29D-4D83-86DA-5B0289733C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6858000"/>
          </a:xfrm>
          <a:prstGeom prst="rect">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Silhouette of Woman Standing Near Window · Free Stock Photo">
            <a:extLst>
              <a:ext uri="{FF2B5EF4-FFF2-40B4-BE49-F238E27FC236}">
                <a16:creationId xmlns:a16="http://schemas.microsoft.com/office/drawing/2014/main" id="{94E9F347-7C63-C236-A54B-36884DAA191E}"/>
              </a:ext>
            </a:extLst>
          </p:cNvPr>
          <p:cNvPicPr>
            <a:picLocks noChangeAspect="1"/>
          </p:cNvPicPr>
          <p:nvPr/>
        </p:nvPicPr>
        <p:blipFill>
          <a:blip r:embed="rId2">
            <a:extLst>
              <a:ext uri="{837473B0-CC2E-450A-ABE3-18F120FF3D39}">
                <a1611:picAttrSrcUrl xmlns:a1611="http://schemas.microsoft.com/office/drawing/2016/11/main" r:id="rId3"/>
              </a:ext>
            </a:extLst>
          </a:blip>
          <a:srcRect t="14920" r="-1" b="24852"/>
          <a:stretch>
            <a:fillRect/>
          </a:stretch>
        </p:blipFill>
        <p:spPr>
          <a:xfrm>
            <a:off x="4472902" y="18"/>
            <a:ext cx="4049486" cy="3681383"/>
          </a:xfrm>
          <a:prstGeom prst="rect">
            <a:avLst/>
          </a:prstGeom>
        </p:spPr>
      </p:pic>
      <p:pic>
        <p:nvPicPr>
          <p:cNvPr id="7" name="Picture 6" descr="Free photo: ballet shoes, pointe shoes, ballet, dance, ballerina, satin ...">
            <a:extLst>
              <a:ext uri="{FF2B5EF4-FFF2-40B4-BE49-F238E27FC236}">
                <a16:creationId xmlns:a16="http://schemas.microsoft.com/office/drawing/2014/main" id="{C85D0DB2-706C-6DF5-46FC-8CC0B535018C}"/>
              </a:ext>
            </a:extLst>
          </p:cNvPr>
          <p:cNvPicPr>
            <a:picLocks noChangeAspect="1"/>
          </p:cNvPicPr>
          <p:nvPr/>
        </p:nvPicPr>
        <p:blipFill>
          <a:blip r:embed="rId4">
            <a:alphaModFix/>
            <a:extLst>
              <a:ext uri="{837473B0-CC2E-450A-ABE3-18F120FF3D39}">
                <a1611:picAttrSrcUrl xmlns:a1611="http://schemas.microsoft.com/office/drawing/2016/11/main" r:id="rId5"/>
              </a:ext>
            </a:extLst>
          </a:blip>
          <a:srcRect r="29801" b="-3"/>
          <a:stretch>
            <a:fillRect/>
          </a:stretch>
        </p:blipFill>
        <p:spPr>
          <a:xfrm>
            <a:off x="8522390" y="-7"/>
            <a:ext cx="3669610" cy="3681406"/>
          </a:xfrm>
          <a:prstGeom prst="rect">
            <a:avLst/>
          </a:prstGeom>
        </p:spPr>
      </p:pic>
      <p:pic>
        <p:nvPicPr>
          <p:cNvPr id="13" name="Picture 12">
            <a:extLst>
              <a:ext uri="{FF2B5EF4-FFF2-40B4-BE49-F238E27FC236}">
                <a16:creationId xmlns:a16="http://schemas.microsoft.com/office/drawing/2014/main" id="{7EC00A96-F022-B723-5A5F-3DF9AE80C0FD}"/>
              </a:ext>
            </a:extLst>
          </p:cNvPr>
          <p:cNvPicPr>
            <a:picLocks noChangeAspect="1"/>
          </p:cNvPicPr>
          <p:nvPr/>
        </p:nvPicPr>
        <p:blipFill>
          <a:blip r:embed="rId6"/>
          <a:srcRect t="10415" r="1" b="27934"/>
          <a:stretch>
            <a:fillRect/>
          </a:stretch>
        </p:blipFill>
        <p:spPr>
          <a:xfrm>
            <a:off x="4472902" y="3681405"/>
            <a:ext cx="7719098" cy="3176595"/>
          </a:xfrm>
          <a:prstGeom prst="rect">
            <a:avLst/>
          </a:prstGeom>
        </p:spPr>
      </p:pic>
      <p:sp>
        <p:nvSpPr>
          <p:cNvPr id="20" name="Rectangle 19">
            <a:extLst>
              <a:ext uri="{FF2B5EF4-FFF2-40B4-BE49-F238E27FC236}">
                <a16:creationId xmlns:a16="http://schemas.microsoft.com/office/drawing/2014/main" id="{890DEF05-784E-4B61-89E4-04C4ECF4E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43000">
                <a:schemeClr val="tx1">
                  <a:lumMod val="95000"/>
                  <a:lumOff val="5000"/>
                </a:schemeClr>
              </a:gs>
              <a:gs pos="81000">
                <a:schemeClr val="tx1">
                  <a:lumMod val="95000"/>
                  <a:lumOff val="5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AD1584-10DA-4515-8B36-C8DEB8D1DFB6}"/>
              </a:ext>
            </a:extLst>
          </p:cNvPr>
          <p:cNvSpPr>
            <a:spLocks noGrp="1"/>
          </p:cNvSpPr>
          <p:nvPr>
            <p:ph type="title"/>
          </p:nvPr>
        </p:nvSpPr>
        <p:spPr>
          <a:xfrm>
            <a:off x="838200" y="1115219"/>
            <a:ext cx="5395912" cy="2387600"/>
          </a:xfrm>
        </p:spPr>
        <p:txBody>
          <a:bodyPr vert="horz" lIns="91440" tIns="45720" rIns="91440" bIns="45720" rtlCol="0" anchor="b">
            <a:normAutofit/>
          </a:bodyPr>
          <a:lstStyle/>
          <a:p>
            <a:r>
              <a:rPr lang="en-US" sz="5000" kern="1200" dirty="0">
                <a:solidFill>
                  <a:schemeClr val="bg1"/>
                </a:solidFill>
                <a:latin typeface="+mj-lt"/>
                <a:ea typeface="+mj-ea"/>
                <a:cs typeface="+mj-cs"/>
              </a:rPr>
              <a:t>Ava Bennett</a:t>
            </a:r>
          </a:p>
        </p:txBody>
      </p:sp>
      <p:sp>
        <p:nvSpPr>
          <p:cNvPr id="3" name="Content Placeholder 2">
            <a:extLst>
              <a:ext uri="{FF2B5EF4-FFF2-40B4-BE49-F238E27FC236}">
                <a16:creationId xmlns:a16="http://schemas.microsoft.com/office/drawing/2014/main" id="{CA06A9BB-AA91-BEE9-7708-909735345ED6}"/>
              </a:ext>
            </a:extLst>
          </p:cNvPr>
          <p:cNvSpPr>
            <a:spLocks noGrp="1"/>
          </p:cNvSpPr>
          <p:nvPr>
            <p:ph idx="1"/>
          </p:nvPr>
        </p:nvSpPr>
        <p:spPr>
          <a:xfrm>
            <a:off x="838200" y="3902075"/>
            <a:ext cx="5395912" cy="1655762"/>
          </a:xfrm>
        </p:spPr>
        <p:txBody>
          <a:bodyPr vert="horz" lIns="91440" tIns="45720" rIns="91440" bIns="45720" rtlCol="0">
            <a:normAutofit/>
          </a:bodyPr>
          <a:lstStyle/>
          <a:p>
            <a:pPr marL="0" indent="0">
              <a:buNone/>
            </a:pPr>
            <a:r>
              <a:rPr lang="en-US" sz="2000" kern="1200" dirty="0">
                <a:solidFill>
                  <a:schemeClr val="bg1"/>
                </a:solidFill>
                <a:latin typeface="+mn-lt"/>
                <a:ea typeface="+mn-ea"/>
                <a:cs typeface="+mn-cs"/>
              </a:rPr>
              <a:t>A </a:t>
            </a:r>
            <a:r>
              <a:rPr lang="en-US" sz="2000" dirty="0">
                <a:solidFill>
                  <a:schemeClr val="bg1"/>
                </a:solidFill>
              </a:rPr>
              <a:t>seventeen-year-old </a:t>
            </a:r>
            <a:r>
              <a:rPr lang="en-US" sz="2000" kern="1200" dirty="0">
                <a:solidFill>
                  <a:schemeClr val="bg1"/>
                </a:solidFill>
                <a:latin typeface="+mn-lt"/>
                <a:ea typeface="+mn-ea"/>
                <a:cs typeface="+mn-cs"/>
              </a:rPr>
              <a:t>girl who is determined to make the most of her life, knowing time may not be on her side.</a:t>
            </a:r>
          </a:p>
        </p:txBody>
      </p:sp>
      <p:cxnSp>
        <p:nvCxnSpPr>
          <p:cNvPr id="22" name="Straight Connector 21">
            <a:extLst>
              <a:ext uri="{FF2B5EF4-FFF2-40B4-BE49-F238E27FC236}">
                <a16:creationId xmlns:a16="http://schemas.microsoft.com/office/drawing/2014/main" id="{C41BAEC7-F7B0-4224-8B18-8F74B7D87F0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3681408"/>
            <a:ext cx="1135379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7535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1643CE1C-125A-2468-E1DF-2C9A2B34DA5C}"/>
              </a:ext>
            </a:extLst>
          </p:cNvPr>
          <p:cNvSpPr>
            <a:spLocks noGrp="1"/>
          </p:cNvSpPr>
          <p:nvPr>
            <p:ph type="title"/>
          </p:nvPr>
        </p:nvSpPr>
        <p:spPr>
          <a:xfrm>
            <a:off x="1295400" y="669925"/>
            <a:ext cx="4800600" cy="1325563"/>
          </a:xfrm>
        </p:spPr>
        <p:txBody>
          <a:bodyPr anchor="b">
            <a:normAutofit/>
          </a:bodyPr>
          <a:lstStyle/>
          <a:p>
            <a:r>
              <a:rPr lang="en-US">
                <a:solidFill>
                  <a:schemeClr val="bg1"/>
                </a:solidFill>
                <a:latin typeface="Montserrat" pitchFamily="2" charset="77"/>
              </a:rPr>
              <a:t>Noah and Ava</a:t>
            </a:r>
          </a:p>
        </p:txBody>
      </p:sp>
      <p:cxnSp>
        <p:nvCxnSpPr>
          <p:cNvPr id="24" name="Straight Connector 23">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 y="2026340"/>
            <a:ext cx="609599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E259A8CA-6197-D916-771C-C6E56E29B96D}"/>
              </a:ext>
            </a:extLst>
          </p:cNvPr>
          <p:cNvPicPr>
            <a:picLocks noChangeAspect="1"/>
          </p:cNvPicPr>
          <p:nvPr/>
        </p:nvPicPr>
        <p:blipFill>
          <a:blip r:embed="rId2"/>
          <a:srcRect l="43916" t="51688"/>
          <a:stretch>
            <a:fillRect/>
          </a:stretch>
        </p:blipFill>
        <p:spPr>
          <a:xfrm>
            <a:off x="8448861" y="8"/>
            <a:ext cx="3743139" cy="2152301"/>
          </a:xfrm>
          <a:prstGeom prst="rect">
            <a:avLst/>
          </a:prstGeom>
        </p:spPr>
      </p:pic>
      <p:sp>
        <p:nvSpPr>
          <p:cNvPr id="3" name="Content Placeholder 2">
            <a:extLst>
              <a:ext uri="{FF2B5EF4-FFF2-40B4-BE49-F238E27FC236}">
                <a16:creationId xmlns:a16="http://schemas.microsoft.com/office/drawing/2014/main" id="{F31D0AF4-83D8-7FB3-7FCA-9053546C295D}"/>
              </a:ext>
            </a:extLst>
          </p:cNvPr>
          <p:cNvSpPr>
            <a:spLocks noGrp="1"/>
          </p:cNvSpPr>
          <p:nvPr>
            <p:ph idx="1"/>
          </p:nvPr>
        </p:nvSpPr>
        <p:spPr>
          <a:xfrm>
            <a:off x="1295400" y="2288833"/>
            <a:ext cx="4800600" cy="3711571"/>
          </a:xfrm>
        </p:spPr>
        <p:txBody>
          <a:bodyPr>
            <a:normAutofit/>
          </a:bodyPr>
          <a:lstStyle/>
          <a:p>
            <a:pPr marL="0" indent="0">
              <a:buNone/>
            </a:pPr>
            <a:r>
              <a:rPr lang="en-US" sz="2000" dirty="0">
                <a:solidFill>
                  <a:schemeClr val="bg1"/>
                </a:solidFill>
              </a:rPr>
              <a:t>Their relationship begins with a wave through a window.</a:t>
            </a:r>
          </a:p>
          <a:p>
            <a:pPr marL="0" indent="0">
              <a:buNone/>
            </a:pPr>
            <a:r>
              <a:rPr lang="en-US" sz="2000" dirty="0">
                <a:solidFill>
                  <a:schemeClr val="bg1"/>
                </a:solidFill>
              </a:rPr>
              <a:t>It grows through Notes held up to their windows and late-night phone calls.</a:t>
            </a:r>
          </a:p>
          <a:p>
            <a:pPr marL="0" indent="0">
              <a:buNone/>
            </a:pPr>
            <a:r>
              <a:rPr lang="en-US" sz="2000" dirty="0">
                <a:solidFill>
                  <a:schemeClr val="bg1"/>
                </a:solidFill>
              </a:rPr>
              <a:t>Over time, friendship brings trust, and that becomes love.</a:t>
            </a:r>
          </a:p>
          <a:p>
            <a:pPr marL="0" indent="0">
              <a:buNone/>
            </a:pPr>
            <a:endParaRPr lang="en-US" sz="2000" dirty="0">
              <a:solidFill>
                <a:schemeClr val="bg1"/>
              </a:solidFill>
            </a:endParaRPr>
          </a:p>
        </p:txBody>
      </p:sp>
      <p:pic>
        <p:nvPicPr>
          <p:cNvPr id="8" name="Picture 7">
            <a:extLst>
              <a:ext uri="{FF2B5EF4-FFF2-40B4-BE49-F238E27FC236}">
                <a16:creationId xmlns:a16="http://schemas.microsoft.com/office/drawing/2014/main" id="{48ECF73A-6154-1869-695E-235DA05476C5}"/>
              </a:ext>
            </a:extLst>
          </p:cNvPr>
          <p:cNvPicPr>
            <a:picLocks noChangeAspect="1"/>
          </p:cNvPicPr>
          <p:nvPr/>
        </p:nvPicPr>
        <p:blipFill>
          <a:blip r:embed="rId3"/>
          <a:stretch>
            <a:fillRect/>
          </a:stretch>
        </p:blipFill>
        <p:spPr>
          <a:xfrm>
            <a:off x="9016344" y="2288833"/>
            <a:ext cx="3175645" cy="2119743"/>
          </a:xfrm>
          <a:prstGeom prst="rect">
            <a:avLst/>
          </a:prstGeom>
        </p:spPr>
      </p:pic>
      <p:pic>
        <p:nvPicPr>
          <p:cNvPr id="5" name="Picture 4">
            <a:extLst>
              <a:ext uri="{FF2B5EF4-FFF2-40B4-BE49-F238E27FC236}">
                <a16:creationId xmlns:a16="http://schemas.microsoft.com/office/drawing/2014/main" id="{2AEBAA57-4925-4679-B0C3-354CADF0BD58}"/>
              </a:ext>
            </a:extLst>
          </p:cNvPr>
          <p:cNvPicPr>
            <a:picLocks noChangeAspect="1"/>
          </p:cNvPicPr>
          <p:nvPr/>
        </p:nvPicPr>
        <p:blipFill>
          <a:blip r:embed="rId2"/>
          <a:srcRect l="42654" b="51688"/>
          <a:stretch>
            <a:fillRect/>
          </a:stretch>
        </p:blipFill>
        <p:spPr>
          <a:xfrm>
            <a:off x="8136941" y="4577666"/>
            <a:ext cx="4055048" cy="2280334"/>
          </a:xfrm>
          <a:prstGeom prst="rect">
            <a:avLst/>
          </a:prstGeom>
        </p:spPr>
      </p:pic>
      <p:cxnSp>
        <p:nvCxnSpPr>
          <p:cNvPr id="25" name="Straight Connector 24">
            <a:extLst>
              <a:ext uri="{FF2B5EF4-FFF2-40B4-BE49-F238E27FC236}">
                <a16:creationId xmlns:a16="http://schemas.microsoft.com/office/drawing/2014/main" id="{B7188D9B-1674-419B-A379-D1632A7EC3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829053" y="0"/>
            <a:ext cx="0" cy="685800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06297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94E91-E12D-396B-5B99-E0DBC009FB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D5A50-E736-72F3-7A48-3F8942AB9D7F}"/>
              </a:ext>
            </a:extLst>
          </p:cNvPr>
          <p:cNvSpPr>
            <a:spLocks noGrp="1"/>
          </p:cNvSpPr>
          <p:nvPr>
            <p:ph type="title"/>
          </p:nvPr>
        </p:nvSpPr>
        <p:spPr>
          <a:xfrm>
            <a:off x="838200" y="669925"/>
            <a:ext cx="6019800" cy="1325563"/>
          </a:xfrm>
        </p:spPr>
        <p:txBody>
          <a:bodyPr anchor="b">
            <a:normAutofit fontScale="90000"/>
          </a:bodyPr>
          <a:lstStyle/>
          <a:p>
            <a:r>
              <a:rPr lang="en-US" dirty="0">
                <a:solidFill>
                  <a:schemeClr val="bg1"/>
                </a:solidFill>
                <a:latin typeface="Montserrat" pitchFamily="2" charset="77"/>
              </a:rPr>
              <a:t>Why Actors Respond To These Roles</a:t>
            </a:r>
          </a:p>
        </p:txBody>
      </p:sp>
      <p:sp>
        <p:nvSpPr>
          <p:cNvPr id="3" name="Content Placeholder 2">
            <a:extLst>
              <a:ext uri="{FF2B5EF4-FFF2-40B4-BE49-F238E27FC236}">
                <a16:creationId xmlns:a16="http://schemas.microsoft.com/office/drawing/2014/main" id="{EB6F743E-51AE-8389-73EB-A4906F2A6407}"/>
              </a:ext>
            </a:extLst>
          </p:cNvPr>
          <p:cNvSpPr>
            <a:spLocks noGrp="1"/>
          </p:cNvSpPr>
          <p:nvPr>
            <p:ph idx="1"/>
          </p:nvPr>
        </p:nvSpPr>
        <p:spPr>
          <a:xfrm>
            <a:off x="6095999" y="2398957"/>
            <a:ext cx="4703333" cy="3526144"/>
          </a:xfrm>
        </p:spPr>
        <p:txBody>
          <a:bodyPr>
            <a:normAutofit/>
          </a:bodyPr>
          <a:lstStyle/>
          <a:p>
            <a:pPr marL="0" indent="0">
              <a:buNone/>
            </a:pPr>
            <a:r>
              <a:rPr lang="en-US" sz="2000" dirty="0">
                <a:solidFill>
                  <a:schemeClr val="bg1"/>
                </a:solidFill>
                <a:latin typeface="Montserrat" pitchFamily="2" charset="77"/>
              </a:rPr>
              <a:t>AVA</a:t>
            </a:r>
          </a:p>
          <a:p>
            <a:pPr marL="0" indent="0">
              <a:buNone/>
            </a:pPr>
            <a:r>
              <a:rPr lang="en-US" sz="2000" dirty="0">
                <a:solidFill>
                  <a:schemeClr val="bg1"/>
                </a:solidFill>
                <a:latin typeface="Montserrat" pitchFamily="2" charset="77"/>
              </a:rPr>
              <a:t>Funny</a:t>
            </a:r>
          </a:p>
          <a:p>
            <a:pPr marL="0" indent="0">
              <a:buNone/>
            </a:pPr>
            <a:r>
              <a:rPr lang="en-US" sz="2000" dirty="0">
                <a:solidFill>
                  <a:schemeClr val="bg1"/>
                </a:solidFill>
                <a:latin typeface="Montserrat" pitchFamily="2" charset="77"/>
              </a:rPr>
              <a:t>Intelligent</a:t>
            </a:r>
          </a:p>
          <a:p>
            <a:pPr marL="0" indent="0">
              <a:buNone/>
            </a:pPr>
            <a:r>
              <a:rPr lang="en-US" sz="2000" dirty="0">
                <a:solidFill>
                  <a:schemeClr val="bg1"/>
                </a:solidFill>
                <a:latin typeface="Montserrat" pitchFamily="2" charset="77"/>
              </a:rPr>
              <a:t>Strong-willed</a:t>
            </a:r>
          </a:p>
          <a:p>
            <a:pPr marL="0" indent="0">
              <a:buNone/>
            </a:pPr>
            <a:r>
              <a:rPr lang="en-US" sz="2000" dirty="0">
                <a:solidFill>
                  <a:schemeClr val="bg1"/>
                </a:solidFill>
                <a:latin typeface="Montserrat" pitchFamily="2" charset="77"/>
              </a:rPr>
              <a:t>Emotionally Demanding Role</a:t>
            </a:r>
          </a:p>
        </p:txBody>
      </p:sp>
      <p:sp>
        <p:nvSpPr>
          <p:cNvPr id="4" name="Content Placeholder 2">
            <a:extLst>
              <a:ext uri="{FF2B5EF4-FFF2-40B4-BE49-F238E27FC236}">
                <a16:creationId xmlns:a16="http://schemas.microsoft.com/office/drawing/2014/main" id="{0B6FF7F9-0CCD-D886-7F41-A7E387ED8E20}"/>
              </a:ext>
            </a:extLst>
          </p:cNvPr>
          <p:cNvSpPr txBox="1">
            <a:spLocks/>
          </p:cNvSpPr>
          <p:nvPr/>
        </p:nvSpPr>
        <p:spPr>
          <a:xfrm>
            <a:off x="1132898" y="2398957"/>
            <a:ext cx="4703333" cy="35261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solidFill>
                  <a:schemeClr val="bg1"/>
                </a:solidFill>
                <a:latin typeface="Montserrat" pitchFamily="2" charset="77"/>
              </a:rPr>
              <a:t>NOAH</a:t>
            </a:r>
          </a:p>
          <a:p>
            <a:pPr marL="0" indent="0">
              <a:buFont typeface="Arial" panose="020B0604020202020204" pitchFamily="34" charset="0"/>
              <a:buNone/>
            </a:pPr>
            <a:r>
              <a:rPr lang="en-US" sz="2000" dirty="0">
                <a:solidFill>
                  <a:schemeClr val="bg1"/>
                </a:solidFill>
                <a:latin typeface="Montserrat" pitchFamily="2" charset="77"/>
              </a:rPr>
              <a:t>Athletic</a:t>
            </a:r>
          </a:p>
          <a:p>
            <a:pPr marL="0" indent="0">
              <a:buFont typeface="Arial" panose="020B0604020202020204" pitchFamily="34" charset="0"/>
              <a:buNone/>
            </a:pPr>
            <a:r>
              <a:rPr lang="en-US" sz="2000" dirty="0">
                <a:solidFill>
                  <a:schemeClr val="bg1"/>
                </a:solidFill>
                <a:latin typeface="Montserrat" pitchFamily="2" charset="77"/>
              </a:rPr>
              <a:t>Vulnerable</a:t>
            </a:r>
          </a:p>
          <a:p>
            <a:pPr marL="0" indent="0">
              <a:buFont typeface="Arial" panose="020B0604020202020204" pitchFamily="34" charset="0"/>
              <a:buNone/>
            </a:pPr>
            <a:r>
              <a:rPr lang="en-US" sz="2000" dirty="0">
                <a:solidFill>
                  <a:schemeClr val="bg1"/>
                </a:solidFill>
                <a:latin typeface="Montserrat" pitchFamily="2" charset="77"/>
              </a:rPr>
              <a:t>Romantic Lead</a:t>
            </a:r>
          </a:p>
          <a:p>
            <a:pPr marL="0" indent="0">
              <a:buFont typeface="Arial" panose="020B0604020202020204" pitchFamily="34" charset="0"/>
              <a:buNone/>
            </a:pPr>
            <a:r>
              <a:rPr lang="en-US" sz="2000" dirty="0">
                <a:solidFill>
                  <a:schemeClr val="bg1"/>
                </a:solidFill>
                <a:latin typeface="Montserrat" pitchFamily="2" charset="77"/>
              </a:rPr>
              <a:t>Emotional Transformation</a:t>
            </a:r>
          </a:p>
        </p:txBody>
      </p:sp>
      <p:cxnSp>
        <p:nvCxnSpPr>
          <p:cNvPr id="5" name="Straight Connector 4">
            <a:extLst>
              <a:ext uri="{FF2B5EF4-FFF2-40B4-BE49-F238E27FC236}">
                <a16:creationId xmlns:a16="http://schemas.microsoft.com/office/drawing/2014/main" id="{66AF91CC-8CAA-9867-2544-451F86AA2906}"/>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0" y="2026340"/>
            <a:ext cx="63119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46438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DFB47463-AE1B-30EC-6BF2-24624F6C1011}"/>
              </a:ext>
            </a:extLst>
          </p:cNvPr>
          <p:cNvSpPr>
            <a:spLocks noGrp="1"/>
          </p:cNvSpPr>
          <p:nvPr>
            <p:ph type="title"/>
          </p:nvPr>
        </p:nvSpPr>
        <p:spPr>
          <a:xfrm>
            <a:off x="1014141" y="1450655"/>
            <a:ext cx="3932030" cy="3956690"/>
          </a:xfrm>
        </p:spPr>
        <p:txBody>
          <a:bodyPr anchor="ctr">
            <a:normAutofit/>
          </a:bodyPr>
          <a:lstStyle/>
          <a:p>
            <a:r>
              <a:rPr lang="en-US" sz="5000" dirty="0">
                <a:solidFill>
                  <a:schemeClr val="bg1"/>
                </a:solidFill>
                <a:latin typeface="Montserrat" pitchFamily="2" charset="77"/>
              </a:rPr>
              <a:t>Production Overview</a:t>
            </a:r>
          </a:p>
        </p:txBody>
      </p:sp>
      <p:cxnSp>
        <p:nvCxnSpPr>
          <p:cNvPr id="11" name="Straight Connector 10">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014141"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70520E0-672E-4BE5-AEDA-CE8C64E81287}"/>
              </a:ext>
            </a:extLst>
          </p:cNvPr>
          <p:cNvSpPr>
            <a:spLocks noGrp="1"/>
          </p:cNvSpPr>
          <p:nvPr>
            <p:ph idx="1"/>
          </p:nvPr>
        </p:nvSpPr>
        <p:spPr>
          <a:xfrm>
            <a:off x="6096000" y="1108061"/>
            <a:ext cx="5302685" cy="4571972"/>
          </a:xfrm>
        </p:spPr>
        <p:txBody>
          <a:bodyPr anchor="ctr">
            <a:noAutofit/>
          </a:bodyPr>
          <a:lstStyle/>
          <a:p>
            <a:pPr marL="0" indent="0">
              <a:buNone/>
            </a:pPr>
            <a:r>
              <a:rPr lang="en-US" sz="2000" dirty="0">
                <a:solidFill>
                  <a:schemeClr val="bg1"/>
                </a:solidFill>
                <a:latin typeface="Montserrat" pitchFamily="2" charset="77"/>
              </a:rPr>
              <a:t>Format: Feature Film</a:t>
            </a:r>
          </a:p>
          <a:p>
            <a:pPr marL="0" indent="0">
              <a:buNone/>
            </a:pPr>
            <a:r>
              <a:rPr lang="en-US" sz="2000" dirty="0">
                <a:solidFill>
                  <a:schemeClr val="bg1"/>
                </a:solidFill>
                <a:latin typeface="Montserrat" pitchFamily="2" charset="77"/>
              </a:rPr>
              <a:t>Genre: Drama/Romance</a:t>
            </a:r>
          </a:p>
          <a:p>
            <a:pPr marL="0" indent="0">
              <a:buNone/>
            </a:pPr>
            <a:r>
              <a:rPr lang="en-US" sz="2000" dirty="0">
                <a:solidFill>
                  <a:schemeClr val="bg1"/>
                </a:solidFill>
                <a:latin typeface="Montserrat" pitchFamily="2" charset="77"/>
              </a:rPr>
              <a:t>Main Locations:</a:t>
            </a:r>
          </a:p>
          <a:p>
            <a:pPr marL="0" indent="0">
              <a:buNone/>
            </a:pPr>
            <a:r>
              <a:rPr lang="en-US" sz="2000" dirty="0">
                <a:solidFill>
                  <a:schemeClr val="bg1"/>
                </a:solidFill>
                <a:latin typeface="Montserrat" pitchFamily="2" charset="77"/>
              </a:rPr>
              <a:t>	Residential Neighborhood</a:t>
            </a:r>
          </a:p>
          <a:p>
            <a:pPr marL="0" indent="0">
              <a:buNone/>
            </a:pPr>
            <a:r>
              <a:rPr lang="en-US" sz="2000" dirty="0">
                <a:solidFill>
                  <a:schemeClr val="bg1"/>
                </a:solidFill>
                <a:latin typeface="Montserrat" pitchFamily="2" charset="77"/>
              </a:rPr>
              <a:t>	High School</a:t>
            </a:r>
          </a:p>
          <a:p>
            <a:pPr marL="0" indent="0">
              <a:buNone/>
            </a:pPr>
            <a:r>
              <a:rPr lang="en-US" sz="2000" dirty="0">
                <a:solidFill>
                  <a:schemeClr val="bg1"/>
                </a:solidFill>
                <a:latin typeface="Montserrat" pitchFamily="2" charset="77"/>
              </a:rPr>
              <a:t>	Hospital</a:t>
            </a:r>
          </a:p>
          <a:p>
            <a:pPr marL="0" indent="0">
              <a:buNone/>
            </a:pPr>
            <a:r>
              <a:rPr lang="en-US" sz="2000" dirty="0">
                <a:solidFill>
                  <a:schemeClr val="bg1"/>
                </a:solidFill>
                <a:latin typeface="Montserrat" pitchFamily="2" charset="77"/>
              </a:rPr>
              <a:t>Production Advantages:</a:t>
            </a:r>
          </a:p>
          <a:p>
            <a:pPr marL="0" indent="0">
              <a:buNone/>
            </a:pPr>
            <a:r>
              <a:rPr lang="en-US" sz="2000" dirty="0">
                <a:solidFill>
                  <a:schemeClr val="bg1"/>
                </a:solidFill>
                <a:latin typeface="Montserrat" pitchFamily="2" charset="77"/>
              </a:rPr>
              <a:t>	Character-driven</a:t>
            </a:r>
          </a:p>
          <a:p>
            <a:pPr marL="0" indent="0">
              <a:buNone/>
            </a:pPr>
            <a:r>
              <a:rPr lang="en-US" sz="2000" dirty="0">
                <a:solidFill>
                  <a:schemeClr val="bg1"/>
                </a:solidFill>
                <a:latin typeface="Montserrat" pitchFamily="2" charset="77"/>
              </a:rPr>
              <a:t>	Contained locations</a:t>
            </a:r>
          </a:p>
          <a:p>
            <a:pPr marL="0" indent="0">
              <a:buNone/>
            </a:pPr>
            <a:r>
              <a:rPr lang="en-US" sz="2000" dirty="0">
                <a:solidFill>
                  <a:schemeClr val="bg1"/>
                </a:solidFill>
                <a:latin typeface="Montserrat" pitchFamily="2" charset="77"/>
              </a:rPr>
              <a:t>	Strong roles for young actors</a:t>
            </a:r>
          </a:p>
          <a:p>
            <a:pPr marL="0" indent="0">
              <a:buNone/>
            </a:pPr>
            <a:r>
              <a:rPr lang="en-US" sz="2000" dirty="0">
                <a:solidFill>
                  <a:schemeClr val="bg1"/>
                </a:solidFill>
                <a:latin typeface="Montserrat" pitchFamily="2" charset="77"/>
              </a:rPr>
              <a:t>	Emotionally marketable concept</a:t>
            </a:r>
          </a:p>
        </p:txBody>
      </p:sp>
    </p:spTree>
    <p:extLst>
      <p:ext uri="{BB962C8B-B14F-4D97-AF65-F5344CB8AC3E}">
        <p14:creationId xmlns:p14="http://schemas.microsoft.com/office/powerpoint/2010/main" val="25039825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F162708-5E89-9CF1-6B33-FB1672AF6A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9D8EF212-BC93-B274-3633-03C1C17B5C1C}"/>
              </a:ext>
            </a:extLst>
          </p:cNvPr>
          <p:cNvSpPr>
            <a:spLocks noGrp="1"/>
          </p:cNvSpPr>
          <p:nvPr>
            <p:ph type="title"/>
          </p:nvPr>
        </p:nvSpPr>
        <p:spPr>
          <a:xfrm>
            <a:off x="8250892" y="741391"/>
            <a:ext cx="3269384" cy="1616203"/>
          </a:xfrm>
        </p:spPr>
        <p:txBody>
          <a:bodyPr anchor="b">
            <a:normAutofit/>
          </a:bodyPr>
          <a:lstStyle/>
          <a:p>
            <a:r>
              <a:rPr lang="en-US" sz="3200">
                <a:solidFill>
                  <a:schemeClr val="bg1"/>
                </a:solidFill>
                <a:latin typeface="Montserrat" pitchFamily="2" charset="77"/>
              </a:rPr>
              <a:t>Target Audience / Comparables</a:t>
            </a:r>
          </a:p>
        </p:txBody>
      </p:sp>
      <p:pic>
        <p:nvPicPr>
          <p:cNvPr id="8" name="Picture 7" descr="Watch Five Feet Apart 2019 - OnionPlay">
            <a:extLst>
              <a:ext uri="{FF2B5EF4-FFF2-40B4-BE49-F238E27FC236}">
                <a16:creationId xmlns:a16="http://schemas.microsoft.com/office/drawing/2014/main" id="{8D53B458-5B55-9376-A5DC-BC7ABB879048}"/>
              </a:ext>
            </a:extLst>
          </p:cNvPr>
          <p:cNvPicPr>
            <a:picLocks noChangeAspect="1"/>
          </p:cNvPicPr>
          <p:nvPr/>
        </p:nvPicPr>
        <p:blipFill>
          <a:blip r:embed="rId2">
            <a:extLst>
              <a:ext uri="{837473B0-CC2E-450A-ABE3-18F120FF3D39}">
                <a1611:picAttrSrcUrl xmlns:a1611="http://schemas.microsoft.com/office/drawing/2016/11/main" r:id="rId3"/>
              </a:ext>
            </a:extLst>
          </a:blip>
          <a:srcRect r="3" b="7653"/>
          <a:stretch>
            <a:fillRect/>
          </a:stretch>
        </p:blipFill>
        <p:spPr>
          <a:xfrm>
            <a:off x="874088" y="877413"/>
            <a:ext cx="3580346" cy="4953488"/>
          </a:xfrm>
          <a:prstGeom prst="rect">
            <a:avLst/>
          </a:prstGeom>
        </p:spPr>
      </p:pic>
      <p:pic>
        <p:nvPicPr>
          <p:cNvPr id="12" name="Picture 11" descr="10 Perfect Scenes From Romance Movies That Still Blow Us Away">
            <a:extLst>
              <a:ext uri="{FF2B5EF4-FFF2-40B4-BE49-F238E27FC236}">
                <a16:creationId xmlns:a16="http://schemas.microsoft.com/office/drawing/2014/main" id="{3E718E82-B651-23C1-29F3-E5F401D1AD3C}"/>
              </a:ext>
            </a:extLst>
          </p:cNvPr>
          <p:cNvPicPr>
            <a:picLocks noChangeAspect="1"/>
          </p:cNvPicPr>
          <p:nvPr/>
        </p:nvPicPr>
        <p:blipFill>
          <a:blip r:embed="rId4">
            <a:extLst>
              <a:ext uri="{837473B0-CC2E-450A-ABE3-18F120FF3D39}">
                <a1611:picAttrSrcUrl xmlns:a1611="http://schemas.microsoft.com/office/drawing/2016/11/main" r:id="rId5"/>
              </a:ext>
            </a:extLst>
          </a:blip>
          <a:srcRect t="31450" r="3" b="15832"/>
          <a:stretch>
            <a:fillRect/>
          </a:stretch>
        </p:blipFill>
        <p:spPr>
          <a:xfrm>
            <a:off x="4530256" y="877417"/>
            <a:ext cx="3083744" cy="2435571"/>
          </a:xfrm>
          <a:prstGeom prst="rect">
            <a:avLst/>
          </a:prstGeom>
        </p:spPr>
      </p:pic>
      <p:pic>
        <p:nvPicPr>
          <p:cNvPr id="5" name="Picture 4" descr="Los viajes de Ane : julio 2014">
            <a:extLst>
              <a:ext uri="{FF2B5EF4-FFF2-40B4-BE49-F238E27FC236}">
                <a16:creationId xmlns:a16="http://schemas.microsoft.com/office/drawing/2014/main" id="{5D5349CE-DBC1-5418-5046-8D6CC5D49ECA}"/>
              </a:ext>
            </a:extLst>
          </p:cNvPr>
          <p:cNvPicPr>
            <a:picLocks noChangeAspect="1"/>
          </p:cNvPicPr>
          <p:nvPr/>
        </p:nvPicPr>
        <p:blipFill>
          <a:blip r:embed="rId6">
            <a:extLst>
              <a:ext uri="{837473B0-CC2E-450A-ABE3-18F120FF3D39}">
                <a1611:picAttrSrcUrl xmlns:a1611="http://schemas.microsoft.com/office/drawing/2016/11/main" r:id="rId7"/>
              </a:ext>
            </a:extLst>
          </a:blip>
          <a:srcRect r="3" b="20697"/>
          <a:stretch>
            <a:fillRect/>
          </a:stretch>
        </p:blipFill>
        <p:spPr>
          <a:xfrm>
            <a:off x="4530256" y="3395325"/>
            <a:ext cx="3083744" cy="2437934"/>
          </a:xfrm>
          <a:prstGeom prst="rect">
            <a:avLst/>
          </a:prstGeom>
        </p:spPr>
      </p:pic>
      <p:sp>
        <p:nvSpPr>
          <p:cNvPr id="3" name="Content Placeholder 2">
            <a:extLst>
              <a:ext uri="{FF2B5EF4-FFF2-40B4-BE49-F238E27FC236}">
                <a16:creationId xmlns:a16="http://schemas.microsoft.com/office/drawing/2014/main" id="{D241C770-E9F0-2800-267E-6F4C6BCF1E73}"/>
              </a:ext>
            </a:extLst>
          </p:cNvPr>
          <p:cNvSpPr>
            <a:spLocks noGrp="1"/>
          </p:cNvSpPr>
          <p:nvPr>
            <p:ph idx="1"/>
          </p:nvPr>
        </p:nvSpPr>
        <p:spPr>
          <a:xfrm>
            <a:off x="8250890" y="2533476"/>
            <a:ext cx="3240264" cy="3447832"/>
          </a:xfrm>
          <a:ln>
            <a:noFill/>
          </a:ln>
        </p:spPr>
        <p:txBody>
          <a:bodyPr anchor="t">
            <a:normAutofit/>
          </a:bodyPr>
          <a:lstStyle/>
          <a:p>
            <a:pPr marL="0" indent="0">
              <a:buNone/>
            </a:pPr>
            <a:r>
              <a:rPr lang="en-US" sz="2000" dirty="0">
                <a:solidFill>
                  <a:schemeClr val="bg1"/>
                </a:solidFill>
                <a:latin typeface="Montserrat" pitchFamily="2" charset="77"/>
              </a:rPr>
              <a:t>Target audience</a:t>
            </a:r>
          </a:p>
          <a:p>
            <a:r>
              <a:rPr lang="en-US" sz="2000" dirty="0">
                <a:solidFill>
                  <a:schemeClr val="bg1"/>
                </a:solidFill>
                <a:latin typeface="Montserrat" pitchFamily="2" charset="77"/>
              </a:rPr>
              <a:t>Teens / Young Adults</a:t>
            </a:r>
          </a:p>
          <a:p>
            <a:endParaRPr lang="en-US" sz="2000" dirty="0">
              <a:solidFill>
                <a:schemeClr val="bg1"/>
              </a:solidFill>
              <a:latin typeface="Montserrat" pitchFamily="2" charset="77"/>
            </a:endParaRPr>
          </a:p>
          <a:p>
            <a:pPr marL="0" indent="0">
              <a:buNone/>
            </a:pPr>
            <a:endParaRPr lang="en-US" sz="2000" dirty="0">
              <a:solidFill>
                <a:schemeClr val="bg1"/>
              </a:solidFill>
              <a:latin typeface="Montserrat" pitchFamily="2" charset="77"/>
            </a:endParaRPr>
          </a:p>
          <a:p>
            <a:pPr marL="0" indent="0">
              <a:buNone/>
            </a:pPr>
            <a:r>
              <a:rPr lang="en-US" sz="2000" dirty="0">
                <a:solidFill>
                  <a:schemeClr val="bg1"/>
                </a:solidFill>
                <a:latin typeface="Montserrat" pitchFamily="2" charset="77"/>
              </a:rPr>
              <a:t>Comparables</a:t>
            </a:r>
          </a:p>
          <a:p>
            <a:r>
              <a:rPr lang="en-US" sz="2000" dirty="0">
                <a:solidFill>
                  <a:schemeClr val="bg1"/>
                </a:solidFill>
                <a:latin typeface="Montserrat" pitchFamily="2" charset="77"/>
              </a:rPr>
              <a:t>The Fault in Our Stars</a:t>
            </a:r>
          </a:p>
          <a:p>
            <a:r>
              <a:rPr lang="en-US" sz="2000" dirty="0">
                <a:solidFill>
                  <a:schemeClr val="bg1"/>
                </a:solidFill>
                <a:latin typeface="Montserrat" pitchFamily="2" charset="77"/>
              </a:rPr>
              <a:t>Five Feet Apart</a:t>
            </a:r>
          </a:p>
          <a:p>
            <a:r>
              <a:rPr lang="en-US" sz="2000" dirty="0">
                <a:solidFill>
                  <a:schemeClr val="bg1"/>
                </a:solidFill>
                <a:latin typeface="Montserrat" pitchFamily="2" charset="77"/>
              </a:rPr>
              <a:t>A Walk to Remember</a:t>
            </a:r>
          </a:p>
          <a:p>
            <a:pPr marL="0" indent="0">
              <a:buNone/>
            </a:pPr>
            <a:endParaRPr lang="en-US" sz="2000" dirty="0">
              <a:solidFill>
                <a:schemeClr val="bg1"/>
              </a:solidFill>
              <a:latin typeface="Montserrat" pitchFamily="2" charset="77"/>
            </a:endParaRPr>
          </a:p>
        </p:txBody>
      </p:sp>
      <p:cxnSp>
        <p:nvCxnSpPr>
          <p:cNvPr id="14" name="Straight Connector 13">
            <a:extLst>
              <a:ext uri="{FF2B5EF4-FFF2-40B4-BE49-F238E27FC236}">
                <a16:creationId xmlns:a16="http://schemas.microsoft.com/office/drawing/2014/main" id="{3F519E1B-6AD9-F8D1-3913-447F78DBA4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8250890" y="2439931"/>
            <a:ext cx="324026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60786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AACB0977-B2F9-0E82-373D-F482953181A4}"/>
              </a:ext>
            </a:extLst>
          </p:cNvPr>
          <p:cNvSpPr>
            <a:spLocks noGrp="1"/>
          </p:cNvSpPr>
          <p:nvPr>
            <p:ph type="title"/>
          </p:nvPr>
        </p:nvSpPr>
        <p:spPr>
          <a:xfrm>
            <a:off x="838200" y="448721"/>
            <a:ext cx="4707671" cy="1225650"/>
          </a:xfrm>
        </p:spPr>
        <p:txBody>
          <a:bodyPr anchor="b">
            <a:normAutofit/>
          </a:bodyPr>
          <a:lstStyle/>
          <a:p>
            <a:r>
              <a:rPr lang="en-US" sz="3800" dirty="0">
                <a:solidFill>
                  <a:schemeClr val="bg1"/>
                </a:solidFill>
                <a:latin typeface="Montserrat" pitchFamily="2" charset="77"/>
              </a:rPr>
              <a:t>William’s Role</a:t>
            </a:r>
          </a:p>
        </p:txBody>
      </p:sp>
      <p:cxnSp>
        <p:nvCxnSpPr>
          <p:cNvPr id="14" name="Straight Connector 13">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1873"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6566902-0C1E-0E4E-F669-D6009FB3C3AD}"/>
              </a:ext>
            </a:extLst>
          </p:cNvPr>
          <p:cNvSpPr>
            <a:spLocks noGrp="1"/>
          </p:cNvSpPr>
          <p:nvPr>
            <p:ph idx="1"/>
          </p:nvPr>
        </p:nvSpPr>
        <p:spPr>
          <a:xfrm>
            <a:off x="897769" y="1909192"/>
            <a:ext cx="4586513" cy="3647710"/>
          </a:xfrm>
        </p:spPr>
        <p:txBody>
          <a:bodyPr anchor="ctr">
            <a:normAutofit/>
          </a:bodyPr>
          <a:lstStyle/>
          <a:p>
            <a:pPr marL="0" indent="0">
              <a:buNone/>
            </a:pPr>
            <a:r>
              <a:rPr lang="en-US" sz="2000" dirty="0">
                <a:solidFill>
                  <a:schemeClr val="bg1"/>
                </a:solidFill>
                <a:latin typeface="Montserrat" pitchFamily="2" charset="77"/>
              </a:rPr>
              <a:t>Writer</a:t>
            </a:r>
          </a:p>
          <a:p>
            <a:pPr marL="0" indent="0">
              <a:buNone/>
            </a:pPr>
            <a:r>
              <a:rPr lang="en-US" sz="2000" dirty="0">
                <a:solidFill>
                  <a:schemeClr val="bg1"/>
                </a:solidFill>
                <a:latin typeface="Montserrat" pitchFamily="2" charset="77"/>
              </a:rPr>
              <a:t>Co-Producer</a:t>
            </a:r>
          </a:p>
        </p:txBody>
      </p:sp>
      <p:pic>
        <p:nvPicPr>
          <p:cNvPr id="7" name="Picture 6">
            <a:extLst>
              <a:ext uri="{FF2B5EF4-FFF2-40B4-BE49-F238E27FC236}">
                <a16:creationId xmlns:a16="http://schemas.microsoft.com/office/drawing/2014/main" id="{B433C4D9-BF38-37F4-BAEB-C00DEC6E79CF}"/>
              </a:ext>
            </a:extLst>
          </p:cNvPr>
          <p:cNvPicPr>
            <a:picLocks noChangeAspect="1"/>
          </p:cNvPicPr>
          <p:nvPr/>
        </p:nvPicPr>
        <p:blipFill>
          <a:blip r:embed="rId2"/>
          <a:srcRect l="6198" r="-2" b="-2"/>
          <a:stretch>
            <a:fillRect/>
          </a:stretch>
        </p:blipFill>
        <p:spPr>
          <a:xfrm>
            <a:off x="6525453" y="1"/>
            <a:ext cx="5666547" cy="3398024"/>
          </a:xfrm>
          <a:prstGeom prst="rect">
            <a:avLst/>
          </a:prstGeom>
        </p:spPr>
      </p:pic>
      <p:cxnSp>
        <p:nvCxnSpPr>
          <p:cNvPr id="16" name="Straight Connector 15">
            <a:extLst>
              <a:ext uri="{FF2B5EF4-FFF2-40B4-BE49-F238E27FC236}">
                <a16:creationId xmlns:a16="http://schemas.microsoft.com/office/drawing/2014/main" id="{CA240C79-242E-4918-9F28-B101847D1CC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522277" y="3386960"/>
            <a:ext cx="5669723"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4027"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5" name="Picture 4" descr="Writing – Polysemic Stupor">
            <a:extLst>
              <a:ext uri="{FF2B5EF4-FFF2-40B4-BE49-F238E27FC236}">
                <a16:creationId xmlns:a16="http://schemas.microsoft.com/office/drawing/2014/main" id="{046D9194-B116-62FB-E7F0-71B045DAC72E}"/>
              </a:ext>
            </a:extLst>
          </p:cNvPr>
          <p:cNvPicPr>
            <a:picLocks noChangeAspect="1"/>
          </p:cNvPicPr>
          <p:nvPr/>
        </p:nvPicPr>
        <p:blipFill>
          <a:blip r:embed="rId3">
            <a:extLst>
              <a:ext uri="{837473B0-CC2E-450A-ABE3-18F120FF3D39}">
                <a1611:picAttrSrcUrl xmlns:a1611="http://schemas.microsoft.com/office/drawing/2016/11/main" r:id="rId4"/>
              </a:ext>
            </a:extLst>
          </a:blip>
          <a:srcRect r="-2" b="8334"/>
          <a:stretch>
            <a:fillRect/>
          </a:stretch>
        </p:blipFill>
        <p:spPr>
          <a:xfrm>
            <a:off x="6522277" y="3398024"/>
            <a:ext cx="5669723" cy="3469076"/>
          </a:xfrm>
          <a:prstGeom prst="rect">
            <a:avLst/>
          </a:prstGeom>
        </p:spPr>
      </p:pic>
    </p:spTree>
    <p:extLst>
      <p:ext uri="{BB962C8B-B14F-4D97-AF65-F5344CB8AC3E}">
        <p14:creationId xmlns:p14="http://schemas.microsoft.com/office/powerpoint/2010/main" val="4647403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B5B0058-AF13-4859-B429-4EDDE2A26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D435F221-F86E-01B6-9EF3-ECCDAE8D0727}"/>
              </a:ext>
            </a:extLst>
          </p:cNvPr>
          <p:cNvSpPr>
            <a:spLocks noGrp="1"/>
          </p:cNvSpPr>
          <p:nvPr>
            <p:ph type="title"/>
          </p:nvPr>
        </p:nvSpPr>
        <p:spPr>
          <a:xfrm>
            <a:off x="3501896" y="816428"/>
            <a:ext cx="5505441" cy="5225143"/>
          </a:xfrm>
        </p:spPr>
        <p:txBody>
          <a:bodyPr vert="horz" lIns="91440" tIns="45720" rIns="91440" bIns="45720" rtlCol="0" anchor="ctr">
            <a:normAutofit/>
          </a:bodyPr>
          <a:lstStyle/>
          <a:p>
            <a:pPr algn="ctr"/>
            <a:r>
              <a:rPr lang="en-US" sz="5000" kern="1200" dirty="0">
                <a:solidFill>
                  <a:schemeClr val="bg1"/>
                </a:solidFill>
                <a:latin typeface="+mj-lt"/>
                <a:ea typeface="+mj-ea"/>
                <a:cs typeface="+mj-cs"/>
              </a:rPr>
              <a:t>“I told her I wasn’t leaving.”</a:t>
            </a:r>
          </a:p>
        </p:txBody>
      </p:sp>
      <p:cxnSp>
        <p:nvCxnSpPr>
          <p:cNvPr id="13" name="Straight Connector 12">
            <a:extLst>
              <a:ext uri="{FF2B5EF4-FFF2-40B4-BE49-F238E27FC236}">
                <a16:creationId xmlns:a16="http://schemas.microsoft.com/office/drawing/2014/main" id="{FEA8332D-EA74-40A2-8709-00EDB23792E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17240" y="3429000"/>
            <a:ext cx="0" cy="3164872"/>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9358801C-1E89-48FF-B14F-D76A2EA14C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34797" y="816429"/>
            <a:ext cx="8239647" cy="5225143"/>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AB88284F-ED00-40CA-B57D-89C49E8EC6E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00357" y="272979"/>
            <a:ext cx="0" cy="290621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55494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B5B0058-AF13-4859-B429-4EDDE2A26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25ACB8-94A8-CDB2-CC28-50617E4E89A0}"/>
              </a:ext>
            </a:extLst>
          </p:cNvPr>
          <p:cNvSpPr>
            <a:spLocks noGrp="1"/>
          </p:cNvSpPr>
          <p:nvPr>
            <p:ph type="title"/>
          </p:nvPr>
        </p:nvSpPr>
        <p:spPr>
          <a:xfrm>
            <a:off x="3501900" y="816427"/>
            <a:ext cx="5505441" cy="5225143"/>
          </a:xfrm>
        </p:spPr>
        <p:txBody>
          <a:bodyPr vert="horz" lIns="91440" tIns="45720" rIns="91440" bIns="45720" rtlCol="0" anchor="ctr">
            <a:normAutofit/>
          </a:bodyPr>
          <a:lstStyle/>
          <a:p>
            <a:pPr algn="ctr"/>
            <a:r>
              <a:rPr lang="en-US" sz="5000" kern="1200" dirty="0">
                <a:solidFill>
                  <a:schemeClr val="bg1"/>
                </a:solidFill>
                <a:latin typeface="+mj-lt"/>
                <a:ea typeface="+mj-ea"/>
                <a:cs typeface="+mj-cs"/>
              </a:rPr>
              <a:t>The Ones Who Stay</a:t>
            </a:r>
            <a:br>
              <a:rPr lang="en-US" sz="4200" kern="1200" dirty="0">
                <a:solidFill>
                  <a:schemeClr val="bg1"/>
                </a:solidFill>
                <a:latin typeface="+mj-lt"/>
                <a:ea typeface="+mj-ea"/>
                <a:cs typeface="+mj-cs"/>
              </a:rPr>
            </a:br>
            <a:r>
              <a:rPr lang="en-US" sz="2200" dirty="0">
                <a:solidFill>
                  <a:schemeClr val="bg1"/>
                </a:solidFill>
              </a:rPr>
              <a:t>A story about choosing to stay when everything tells you to leave.</a:t>
            </a:r>
            <a:br>
              <a:rPr lang="en-US" sz="2200" dirty="0">
                <a:solidFill>
                  <a:schemeClr val="bg1"/>
                </a:solidFill>
              </a:rPr>
            </a:br>
            <a:br>
              <a:rPr lang="en-US" sz="2200" dirty="0">
                <a:solidFill>
                  <a:schemeClr val="bg1"/>
                </a:solidFill>
              </a:rPr>
            </a:br>
            <a:r>
              <a:rPr lang="en-US" sz="1800" dirty="0">
                <a:solidFill>
                  <a:schemeClr val="bg1"/>
                </a:solidFill>
              </a:rPr>
              <a:t>William Kapadia</a:t>
            </a:r>
            <a:br>
              <a:rPr lang="en-US" sz="1800" dirty="0">
                <a:solidFill>
                  <a:schemeClr val="bg1"/>
                </a:solidFill>
              </a:rPr>
            </a:br>
            <a:r>
              <a:rPr lang="en-US" sz="1800" dirty="0">
                <a:solidFill>
                  <a:schemeClr val="bg1"/>
                </a:solidFill>
              </a:rPr>
              <a:t>(864) 978-5651</a:t>
            </a:r>
            <a:br>
              <a:rPr lang="en-US" sz="1800" dirty="0">
                <a:solidFill>
                  <a:schemeClr val="bg1"/>
                </a:solidFill>
              </a:rPr>
            </a:br>
            <a:r>
              <a:rPr lang="en-US" sz="1800" dirty="0" err="1">
                <a:solidFill>
                  <a:schemeClr val="bg1"/>
                </a:solidFill>
              </a:rPr>
              <a:t>william.d.kapadia@icloud.com</a:t>
            </a:r>
            <a:br>
              <a:rPr lang="en-US" sz="1800" dirty="0">
                <a:solidFill>
                  <a:schemeClr val="bg1"/>
                </a:solidFill>
              </a:rPr>
            </a:br>
            <a:endParaRPr lang="en-US" sz="1800" kern="1200" dirty="0">
              <a:solidFill>
                <a:schemeClr val="bg1"/>
              </a:solidFill>
              <a:latin typeface="+mj-lt"/>
              <a:ea typeface="+mj-ea"/>
              <a:cs typeface="+mj-cs"/>
            </a:endParaRPr>
          </a:p>
        </p:txBody>
      </p:sp>
      <p:cxnSp>
        <p:nvCxnSpPr>
          <p:cNvPr id="10" name="Straight Connector 9">
            <a:extLst>
              <a:ext uri="{FF2B5EF4-FFF2-40B4-BE49-F238E27FC236}">
                <a16:creationId xmlns:a16="http://schemas.microsoft.com/office/drawing/2014/main" id="{FEA8332D-EA74-40A2-8709-00EDB23792E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17240" y="3429000"/>
            <a:ext cx="0" cy="3164872"/>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9358801C-1E89-48FF-B14F-D76A2EA14C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34797" y="816429"/>
            <a:ext cx="8239647" cy="5225143"/>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AB88284F-ED00-40CA-B57D-89C49E8EC6E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00357" y="272979"/>
            <a:ext cx="0" cy="2906211"/>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04310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404</TotalTime>
  <Words>508</Words>
  <Application>Microsoft Macintosh PowerPoint</Application>
  <PresentationFormat>Widescreen</PresentationFormat>
  <Paragraphs>75</Paragraphs>
  <Slides>16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Display</vt:lpstr>
      <vt:lpstr>Arial</vt:lpstr>
      <vt:lpstr>Montserrat</vt:lpstr>
      <vt:lpstr>Office Theme</vt:lpstr>
      <vt:lpstr>The Ones Who Stay</vt:lpstr>
      <vt:lpstr>Logline</vt:lpstr>
      <vt:lpstr>Why this story matters</vt:lpstr>
      <vt:lpstr>The Window</vt:lpstr>
      <vt:lpstr>Synopsis</vt:lpstr>
      <vt:lpstr>At its core, The Ones Who Stay explores:</vt:lpstr>
      <vt:lpstr>Tone &amp; Feel</vt:lpstr>
      <vt:lpstr>Noah Carter</vt:lpstr>
      <vt:lpstr>Ava Bennett</vt:lpstr>
      <vt:lpstr>Noah and Ava</vt:lpstr>
      <vt:lpstr>Why Actors Respond To These Roles</vt:lpstr>
      <vt:lpstr>Production Overview</vt:lpstr>
      <vt:lpstr>Target Audience / Comparables</vt:lpstr>
      <vt:lpstr>William’s Role</vt:lpstr>
      <vt:lpstr>“I told her I wasn’t leaving.”</vt:lpstr>
      <vt:lpstr>The Ones Who Stay A story about choosing to stay when everything tells you to leave.  William Kapadia (864) 978-5651 william.d.kapadia@icloud.com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Kapadia, William Derr</dc:creator>
  <cp:lastModifiedBy>Kapadia, William Derr</cp:lastModifiedBy>
  <cp:revision>8</cp:revision>
  <dcterms:created xsi:type="dcterms:W3CDTF">2026-05-03T01:16:02Z</dcterms:created>
  <dcterms:modified xsi:type="dcterms:W3CDTF">2026-06-08T02:26:01Z</dcterms:modified>
</cp:coreProperties>
</file>