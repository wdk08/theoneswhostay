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46"/>
    <p:restoredTop sz="94674"/>
  </p:normalViewPr>
  <p:slideViewPr>
    <p:cSldViewPr snapToGrid="0">
      <p:cViewPr varScale="1">
        <p:scale>
          <a:sx n="102" d="100"/>
          <a:sy n="102" d="100"/>
        </p:scale>
        <p:origin x="8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A28072-3C16-E14C-810F-E0C716E23E48}" type="datetimeFigureOut">
              <a:rPr lang="en-US" smtClean="0"/>
              <a:t>5/3/26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7BC23D-8411-3F42-BF67-686F3563FB26}" type="slidenum">
              <a:rPr lang="en-US" smtClean="0"/>
              <a:t>‹#›</a:t>
            </a:fld>
            <a:endParaRPr lang="en-US"/>
          </a:p>
        </p:txBody>
      </p:sp>
    </p:spTree>
    <p:extLst>
      <p:ext uri="{BB962C8B-B14F-4D97-AF65-F5344CB8AC3E}">
        <p14:creationId xmlns:p14="http://schemas.microsoft.com/office/powerpoint/2010/main" val="346671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7BC23D-8411-3F42-BF67-686F3563FB26}" type="slidenum">
              <a:rPr lang="en-US" smtClean="0"/>
              <a:t>1</a:t>
            </a:fld>
            <a:endParaRPr lang="en-US"/>
          </a:p>
        </p:txBody>
      </p:sp>
    </p:spTree>
    <p:extLst>
      <p:ext uri="{BB962C8B-B14F-4D97-AF65-F5344CB8AC3E}">
        <p14:creationId xmlns:p14="http://schemas.microsoft.com/office/powerpoint/2010/main" val="280320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BDAE-2800-1F83-8418-B6F47099D7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7488B9-47A1-C905-5CF4-3D33F29F8F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A59417-2DE8-8C0A-B225-08AE3D6274D0}"/>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5" name="Footer Placeholder 4">
            <a:extLst>
              <a:ext uri="{FF2B5EF4-FFF2-40B4-BE49-F238E27FC236}">
                <a16:creationId xmlns:a16="http://schemas.microsoft.com/office/drawing/2014/main" id="{32C903F9-2CF5-D223-91B8-69302647C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AC3D36-A482-2CD5-0202-A8E6427A2CA2}"/>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544908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F9C2A-769D-EC31-ADDB-9009FA1DEB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29998-CF65-D063-C289-64EEE0AF4F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C7A155-74FE-EAB7-EF0D-5E07F91F776D}"/>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5" name="Footer Placeholder 4">
            <a:extLst>
              <a:ext uri="{FF2B5EF4-FFF2-40B4-BE49-F238E27FC236}">
                <a16:creationId xmlns:a16="http://schemas.microsoft.com/office/drawing/2014/main" id="{A1DBF6B9-B366-47B2-6B48-E99F24440C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8370DA-8CDB-FAA6-E2A7-AED6B1CB495B}"/>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479196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EEF8-E506-7EEF-82F3-64B55984FC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E45908-DDDE-4302-6537-84F7ABBAFF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AD19BC-86B1-7EF2-4ECB-7050E33DD39D}"/>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5" name="Footer Placeholder 4">
            <a:extLst>
              <a:ext uri="{FF2B5EF4-FFF2-40B4-BE49-F238E27FC236}">
                <a16:creationId xmlns:a16="http://schemas.microsoft.com/office/drawing/2014/main" id="{3E62830A-9B9B-80B0-2BAF-AA859218D4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82501-C32D-A9CB-A161-BDD7177472EB}"/>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2619123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82BF-F9FD-3480-95D8-EED4984B10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37B43B-5204-5258-DA7A-9BA5E3EAF2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6612B2-FB4E-95E2-2298-49A8D15DF9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902EE6-717F-2628-DA0C-2E79C43D3471}"/>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6" name="Footer Placeholder 5">
            <a:extLst>
              <a:ext uri="{FF2B5EF4-FFF2-40B4-BE49-F238E27FC236}">
                <a16:creationId xmlns:a16="http://schemas.microsoft.com/office/drawing/2014/main" id="{9CDECB89-5055-0C55-FE8E-77BE2476BD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61FAA8-89DA-7C6F-B32F-83F1C6A18A62}"/>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2975537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7D1F3-FCE0-CADB-51A0-003C317819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A8DF92-B9A3-AEA0-A24E-3F4F974AA0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564E0D-5B55-1B01-0F24-D98582D1C1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CD81A2-FF34-5BBA-E6CF-843BE6505D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E311F0-5253-FED9-C204-0E86E873FA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2A7404-B020-43F1-BD6D-DAD42C4908BA}"/>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8" name="Footer Placeholder 7">
            <a:extLst>
              <a:ext uri="{FF2B5EF4-FFF2-40B4-BE49-F238E27FC236}">
                <a16:creationId xmlns:a16="http://schemas.microsoft.com/office/drawing/2014/main" id="{FE79EFB3-C559-85DA-9A1A-54176C9956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0413B4-9BEA-7BE3-D5D7-A624AB74FB2A}"/>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472600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57AD3-1F6E-4149-6145-1BD8F721F9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273DB2-3D99-CE89-A21B-0D41FD45CF58}"/>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4" name="Footer Placeholder 3">
            <a:extLst>
              <a:ext uri="{FF2B5EF4-FFF2-40B4-BE49-F238E27FC236}">
                <a16:creationId xmlns:a16="http://schemas.microsoft.com/office/drawing/2014/main" id="{E99C6C1D-85B2-2AD6-E316-C54848077B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E44AC-D8AF-90F2-95F7-FE20E1DEACCD}"/>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3625757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C6277B-4C31-4AD9-DC24-AFAA6F5EA07D}"/>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3" name="Footer Placeholder 2">
            <a:extLst>
              <a:ext uri="{FF2B5EF4-FFF2-40B4-BE49-F238E27FC236}">
                <a16:creationId xmlns:a16="http://schemas.microsoft.com/office/drawing/2014/main" id="{F31AA337-68A2-9D46-0427-944B443910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2F9FB3-7B18-6395-DA13-12235531BEE5}"/>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4066741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ADD0-029E-8726-F9DC-DDC20AB6A9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C83862-C2C0-1755-DB39-E046B6B9C0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8F9EC4-506C-B8FC-BB8C-B283A19166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70E9B9-7FEB-2CBC-65A1-FB3A2730507A}"/>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6" name="Footer Placeholder 5">
            <a:extLst>
              <a:ext uri="{FF2B5EF4-FFF2-40B4-BE49-F238E27FC236}">
                <a16:creationId xmlns:a16="http://schemas.microsoft.com/office/drawing/2014/main" id="{ED150230-F98B-000A-238B-C68348F22E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28FC90-6AFE-0531-0B16-B05C02629606}"/>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2512969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5662B-603C-FE0F-7427-5F3E1A93E1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058F0-1A5E-078F-B1A8-3A0FD575BC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EFFE9F-1AEF-84D4-D6A8-08A982FC86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F66408-C0A3-10C1-AE48-33FB9255938C}"/>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6" name="Footer Placeholder 5">
            <a:extLst>
              <a:ext uri="{FF2B5EF4-FFF2-40B4-BE49-F238E27FC236}">
                <a16:creationId xmlns:a16="http://schemas.microsoft.com/office/drawing/2014/main" id="{399BDA91-437D-BD66-ADD7-68B8A92F9E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E4DCF6-7FEE-53DE-51BF-D2B2C6EB2C9B}"/>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352322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9F73D-8C1D-211C-33DE-EB27D1076A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373139-382C-7AF2-9B66-0ECB0CFAE0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45084D-78E4-B54E-4B93-85FA2E462E4D}"/>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5" name="Footer Placeholder 4">
            <a:extLst>
              <a:ext uri="{FF2B5EF4-FFF2-40B4-BE49-F238E27FC236}">
                <a16:creationId xmlns:a16="http://schemas.microsoft.com/office/drawing/2014/main" id="{17812D67-50E9-E671-C824-9499273971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EEABF1-43B3-9A7C-F829-B3ABB262FC90}"/>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428543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1F2F7F-4604-00B4-9324-4C00798DC2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54CC9D-D453-A299-7500-50F5BCAB67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D8589-C1BB-9778-5C0A-0F695B70AF77}"/>
              </a:ext>
            </a:extLst>
          </p:cNvPr>
          <p:cNvSpPr>
            <a:spLocks noGrp="1"/>
          </p:cNvSpPr>
          <p:nvPr>
            <p:ph type="dt" sz="half" idx="10"/>
          </p:nvPr>
        </p:nvSpPr>
        <p:spPr/>
        <p:txBody>
          <a:bodyPr/>
          <a:lstStyle/>
          <a:p>
            <a:fld id="{38EEFE1F-3EAB-5942-BB76-2051B24AF1B4}" type="datetimeFigureOut">
              <a:rPr lang="en-US" smtClean="0"/>
              <a:t>5/3/26</a:t>
            </a:fld>
            <a:endParaRPr lang="en-US"/>
          </a:p>
        </p:txBody>
      </p:sp>
      <p:sp>
        <p:nvSpPr>
          <p:cNvPr id="5" name="Footer Placeholder 4">
            <a:extLst>
              <a:ext uri="{FF2B5EF4-FFF2-40B4-BE49-F238E27FC236}">
                <a16:creationId xmlns:a16="http://schemas.microsoft.com/office/drawing/2014/main" id="{50274CD9-3713-9AB5-A6B6-E2C0E1A1D2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22344-359C-6AB9-2F3D-0550DBCAAAE5}"/>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331108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E37AAE-F97D-698C-3C8F-DB1D0ED839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8FAB9F-9343-C1BD-991F-9436977FAF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F35B74-394E-51D0-437D-583C816E9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EEFE1F-3EAB-5942-BB76-2051B24AF1B4}" type="datetimeFigureOut">
              <a:rPr lang="en-US" smtClean="0"/>
              <a:t>5/3/26</a:t>
            </a:fld>
            <a:endParaRPr lang="en-US"/>
          </a:p>
        </p:txBody>
      </p:sp>
      <p:sp>
        <p:nvSpPr>
          <p:cNvPr id="5" name="Footer Placeholder 4">
            <a:extLst>
              <a:ext uri="{FF2B5EF4-FFF2-40B4-BE49-F238E27FC236}">
                <a16:creationId xmlns:a16="http://schemas.microsoft.com/office/drawing/2014/main" id="{2B817352-E518-7EAA-6407-4D8A3BF59D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C0603D-A940-DA7E-E92E-92353A8555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5AE0D7-A498-6642-96F0-C218D73D99DC}" type="slidenum">
              <a:rPr lang="en-US" smtClean="0"/>
              <a:t>‹#›</a:t>
            </a:fld>
            <a:endParaRPr lang="en-US"/>
          </a:p>
        </p:txBody>
      </p:sp>
    </p:spTree>
    <p:extLst>
      <p:ext uri="{BB962C8B-B14F-4D97-AF65-F5344CB8AC3E}">
        <p14:creationId xmlns:p14="http://schemas.microsoft.com/office/powerpoint/2010/main" val="1286605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31A2920-132E-F343-662F-500FF73668D3}"/>
              </a:ext>
            </a:extLst>
          </p:cNvPr>
          <p:cNvPicPr>
            <a:picLocks noChangeAspect="1"/>
          </p:cNvPicPr>
          <p:nvPr/>
        </p:nvPicPr>
        <p:blipFill rotWithShape="1">
          <a:blip r:embed="rId3"/>
          <a:srcRect l="5660" t="20853" r="31421" b="64246"/>
          <a:stretch>
            <a:fillRect/>
          </a:stretch>
        </p:blipFill>
        <p:spPr>
          <a:xfrm>
            <a:off x="0" y="1468433"/>
            <a:ext cx="12192000" cy="3252152"/>
          </a:xfrm>
          <a:prstGeom prst="rect">
            <a:avLst/>
          </a:prstGeom>
        </p:spPr>
      </p:pic>
      <p:sp>
        <p:nvSpPr>
          <p:cNvPr id="2" name="Title 1">
            <a:extLst>
              <a:ext uri="{FF2B5EF4-FFF2-40B4-BE49-F238E27FC236}">
                <a16:creationId xmlns:a16="http://schemas.microsoft.com/office/drawing/2014/main" id="{95E23C4B-8F43-F71B-2367-A29F189D5F44}"/>
              </a:ext>
            </a:extLst>
          </p:cNvPr>
          <p:cNvSpPr>
            <a:spLocks noGrp="1"/>
          </p:cNvSpPr>
          <p:nvPr>
            <p:ph type="ctrTitle"/>
          </p:nvPr>
        </p:nvSpPr>
        <p:spPr>
          <a:xfrm>
            <a:off x="1524000" y="2292315"/>
            <a:ext cx="9144000" cy="1229576"/>
          </a:xfrm>
        </p:spPr>
        <p:txBody>
          <a:bodyPr>
            <a:normAutofit/>
          </a:bodyPr>
          <a:lstStyle/>
          <a:p>
            <a:r>
              <a:rPr lang="en-US" sz="4500" dirty="0">
                <a:solidFill>
                  <a:srgbClr val="FFFFFF"/>
                </a:solidFill>
                <a:latin typeface="Montserrat" pitchFamily="2" charset="77"/>
                <a:ea typeface="ADLaM Display" panose="02010000000000000000" pitchFamily="2" charset="77"/>
                <a:cs typeface="ADLaM Display" panose="02010000000000000000" pitchFamily="2" charset="77"/>
              </a:rPr>
              <a:t>The Ones Who Stay</a:t>
            </a:r>
          </a:p>
        </p:txBody>
      </p:sp>
      <p:sp>
        <p:nvSpPr>
          <p:cNvPr id="3" name="Subtitle 2">
            <a:extLst>
              <a:ext uri="{FF2B5EF4-FFF2-40B4-BE49-F238E27FC236}">
                <a16:creationId xmlns:a16="http://schemas.microsoft.com/office/drawing/2014/main" id="{B3281E8B-43BD-5D1E-9A1D-497CB2CA4512}"/>
              </a:ext>
            </a:extLst>
          </p:cNvPr>
          <p:cNvSpPr>
            <a:spLocks noGrp="1"/>
          </p:cNvSpPr>
          <p:nvPr>
            <p:ph type="subTitle" idx="1"/>
          </p:nvPr>
        </p:nvSpPr>
        <p:spPr>
          <a:xfrm>
            <a:off x="1524000" y="4690896"/>
            <a:ext cx="9144000" cy="1098395"/>
          </a:xfrm>
        </p:spPr>
        <p:txBody>
          <a:bodyPr>
            <a:normAutofit/>
          </a:bodyPr>
          <a:lstStyle/>
          <a:p>
            <a:endParaRPr lang="en-US" dirty="0">
              <a:solidFill>
                <a:srgbClr val="FFFFFF"/>
              </a:solidFill>
            </a:endParaRPr>
          </a:p>
          <a:p>
            <a:r>
              <a:rPr lang="en-US" sz="2000" dirty="0">
                <a:solidFill>
                  <a:srgbClr val="FFFFFF"/>
                </a:solidFill>
                <a:latin typeface="Montserrat" pitchFamily="2" charset="77"/>
              </a:rPr>
              <a:t>Written by William Kapadia</a:t>
            </a:r>
          </a:p>
        </p:txBody>
      </p:sp>
    </p:spTree>
    <p:extLst>
      <p:ext uri="{BB962C8B-B14F-4D97-AF65-F5344CB8AC3E}">
        <p14:creationId xmlns:p14="http://schemas.microsoft.com/office/powerpoint/2010/main" val="9433241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B51A-268A-F376-E669-256BAC7E154E}"/>
              </a:ext>
            </a:extLst>
          </p:cNvPr>
          <p:cNvSpPr>
            <a:spLocks noGrp="1"/>
          </p:cNvSpPr>
          <p:nvPr>
            <p:ph type="title"/>
          </p:nvPr>
        </p:nvSpPr>
        <p:spPr/>
        <p:txBody>
          <a:bodyPr anchor="b">
            <a:normAutofit/>
          </a:bodyPr>
          <a:lstStyle/>
          <a:p>
            <a:r>
              <a:rPr lang="en-US" sz="4000">
                <a:solidFill>
                  <a:schemeClr val="bg1"/>
                </a:solidFill>
                <a:latin typeface="Montserrat" pitchFamily="2" charset="77"/>
              </a:rPr>
              <a:t>Logline</a:t>
            </a:r>
            <a:endParaRPr lang="en-US" sz="4000" dirty="0">
              <a:solidFill>
                <a:schemeClr val="bg1"/>
              </a:solidFill>
              <a:latin typeface="Montserrat" pitchFamily="2" charset="77"/>
            </a:endParaRPr>
          </a:p>
        </p:txBody>
      </p:sp>
      <p:sp>
        <p:nvSpPr>
          <p:cNvPr id="3" name="Content Placeholder 2">
            <a:extLst>
              <a:ext uri="{FF2B5EF4-FFF2-40B4-BE49-F238E27FC236}">
                <a16:creationId xmlns:a16="http://schemas.microsoft.com/office/drawing/2014/main" id="{AABDF210-7D3B-BF10-96DD-88B42C121FBB}"/>
              </a:ext>
            </a:extLst>
          </p:cNvPr>
          <p:cNvSpPr>
            <a:spLocks noGrp="1"/>
          </p:cNvSpPr>
          <p:nvPr>
            <p:ph idx="1"/>
          </p:nvPr>
        </p:nvSpPr>
        <p:spPr>
          <a:xfrm>
            <a:off x="841248" y="2141537"/>
            <a:ext cx="10515600" cy="4343400"/>
          </a:xfrm>
        </p:spPr>
        <p:txBody>
          <a:bodyPr/>
          <a:lstStyle/>
          <a:p>
            <a:pPr marL="0" indent="0">
              <a:buNone/>
            </a:pPr>
            <a:r>
              <a:rPr lang="en-US" altLang="en-US" sz="2000" dirty="0">
                <a:solidFill>
                  <a:schemeClr val="bg1"/>
                </a:solidFill>
                <a:latin typeface="Montserrat" pitchFamily="2" charset="77"/>
              </a:rPr>
              <a:t>After moving into a new home, a high school football player forms a quiet connection with the terminally ill girl next door, forcing him to choose between the future he’s always chased and the girl he’s not ready to lose.</a:t>
            </a:r>
          </a:p>
          <a:p>
            <a:pPr marL="0" indent="0">
              <a:buNone/>
            </a:pPr>
            <a:endParaRPr lang="en-US" dirty="0">
              <a:solidFill>
                <a:schemeClr val="bg1"/>
              </a:solidFill>
              <a:latin typeface="Montserrat" pitchFamily="2" charset="77"/>
            </a:endParaRPr>
          </a:p>
        </p:txBody>
      </p:sp>
    </p:spTree>
    <p:extLst>
      <p:ext uri="{BB962C8B-B14F-4D97-AF65-F5344CB8AC3E}">
        <p14:creationId xmlns:p14="http://schemas.microsoft.com/office/powerpoint/2010/main" val="3046347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EF987-B4E8-0FC7-6AF3-0B8E0F6E7A51}"/>
              </a:ext>
            </a:extLst>
          </p:cNvPr>
          <p:cNvSpPr>
            <a:spLocks noGrp="1"/>
          </p:cNvSpPr>
          <p:nvPr>
            <p:ph type="title"/>
          </p:nvPr>
        </p:nvSpPr>
        <p:spPr/>
        <p:txBody>
          <a:bodyPr anchor="b">
            <a:normAutofit/>
          </a:bodyPr>
          <a:lstStyle/>
          <a:p>
            <a:r>
              <a:rPr lang="en-US" sz="4000" dirty="0">
                <a:solidFill>
                  <a:schemeClr val="bg1"/>
                </a:solidFill>
                <a:latin typeface="Montserrat" pitchFamily="2" charset="77"/>
              </a:rPr>
              <a:t>Synopsis</a:t>
            </a:r>
          </a:p>
        </p:txBody>
      </p:sp>
      <p:sp>
        <p:nvSpPr>
          <p:cNvPr id="3" name="Content Placeholder 2">
            <a:extLst>
              <a:ext uri="{FF2B5EF4-FFF2-40B4-BE49-F238E27FC236}">
                <a16:creationId xmlns:a16="http://schemas.microsoft.com/office/drawing/2014/main" id="{89DF18ED-2BCA-799B-C73B-D3D7CC32DC2A}"/>
              </a:ext>
            </a:extLst>
          </p:cNvPr>
          <p:cNvSpPr>
            <a:spLocks noGrp="1"/>
          </p:cNvSpPr>
          <p:nvPr>
            <p:ph idx="1"/>
          </p:nvPr>
        </p:nvSpPr>
        <p:spPr>
          <a:xfrm>
            <a:off x="838200" y="2141537"/>
            <a:ext cx="10515600" cy="4343400"/>
          </a:xfrm>
        </p:spPr>
        <p:txBody>
          <a:bodyPr>
            <a:normAutofit/>
          </a:bodyPr>
          <a:lstStyle/>
          <a:p>
            <a:pPr marL="0" lvl="0" indent="0" eaLnBrk="0" fontAlgn="base" hangingPunct="0">
              <a:lnSpc>
                <a:spcPct val="100000"/>
              </a:lnSpc>
              <a:spcBef>
                <a:spcPct val="0"/>
              </a:spcBef>
              <a:spcAft>
                <a:spcPct val="0"/>
              </a:spcAft>
              <a:buNone/>
            </a:pPr>
            <a:r>
              <a:rPr lang="en-US" altLang="en-US" sz="2000" dirty="0">
                <a:solidFill>
                  <a:schemeClr val="bg1"/>
                </a:solidFill>
                <a:latin typeface="Montserrat" pitchFamily="2" charset="77"/>
              </a:rPr>
              <a:t>After moving into a new home, Noah, a driven high school football player, discovers Ava—the terminally ill girl next door—through their facing bedroom windows. What begins as a quiet exchange of handwritten notes grows into late-night phone calls and a deep, unexpected connection that begins to reshape Noah’s priorities. As Ava’s condition worsens and she is rushed to the hospital, Noah is confronted with the reality of her limited time. </a:t>
            </a:r>
          </a:p>
          <a:p>
            <a:pPr marL="0" lvl="0" indent="0" eaLnBrk="0" fontAlgn="base" hangingPunct="0">
              <a:lnSpc>
                <a:spcPct val="100000"/>
              </a:lnSpc>
              <a:spcBef>
                <a:spcPct val="0"/>
              </a:spcBef>
              <a:spcAft>
                <a:spcPct val="0"/>
              </a:spcAft>
              <a:buNone/>
            </a:pPr>
            <a:r>
              <a:rPr lang="en-US" altLang="en-US" sz="2000" dirty="0">
                <a:solidFill>
                  <a:schemeClr val="bg1"/>
                </a:solidFill>
                <a:latin typeface="Montserrat" pitchFamily="2" charset="77"/>
              </a:rPr>
              <a:t>When he learns she needs a lung transplant, he makes a life-altering decision to donate—sacrificing the future he’s spent years working toward. In the aftermath of the surgery, both face difficult recoveries, forced to confront the physical and emotional weight of what’s been given and what’s been lost. But through it, Noah holds onto the promise he made when their connection first began—choosing to stay, even when all the signs tell him he should leave.</a:t>
            </a:r>
          </a:p>
        </p:txBody>
      </p:sp>
    </p:spTree>
    <p:extLst>
      <p:ext uri="{BB962C8B-B14F-4D97-AF65-F5344CB8AC3E}">
        <p14:creationId xmlns:p14="http://schemas.microsoft.com/office/powerpoint/2010/main" val="1428186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5DFA-C3C5-A7FF-D56C-DDC2BB573084}"/>
              </a:ext>
            </a:extLst>
          </p:cNvPr>
          <p:cNvSpPr>
            <a:spLocks noGrp="1"/>
          </p:cNvSpPr>
          <p:nvPr>
            <p:ph type="title"/>
          </p:nvPr>
        </p:nvSpPr>
        <p:spPr/>
        <p:txBody>
          <a:bodyPr anchor="b">
            <a:normAutofit/>
          </a:bodyPr>
          <a:lstStyle/>
          <a:p>
            <a:r>
              <a:rPr lang="en-US" sz="4000" dirty="0">
                <a:solidFill>
                  <a:schemeClr val="bg1"/>
                </a:solidFill>
                <a:latin typeface="Montserrat" pitchFamily="2" charset="77"/>
              </a:rPr>
              <a:t>At its core, </a:t>
            </a:r>
            <a:r>
              <a:rPr lang="en-US" sz="4000" i="1" dirty="0">
                <a:solidFill>
                  <a:schemeClr val="bg1"/>
                </a:solidFill>
                <a:latin typeface="Montserrat" pitchFamily="2" charset="77"/>
              </a:rPr>
              <a:t>The Ones Who Stay</a:t>
            </a:r>
            <a:r>
              <a:rPr lang="en-US" sz="4000" dirty="0">
                <a:solidFill>
                  <a:schemeClr val="bg1"/>
                </a:solidFill>
                <a:latin typeface="Montserrat" pitchFamily="2" charset="77"/>
              </a:rPr>
              <a:t> explores:</a:t>
            </a:r>
          </a:p>
        </p:txBody>
      </p:sp>
      <p:sp>
        <p:nvSpPr>
          <p:cNvPr id="3" name="Content Placeholder 2">
            <a:extLst>
              <a:ext uri="{FF2B5EF4-FFF2-40B4-BE49-F238E27FC236}">
                <a16:creationId xmlns:a16="http://schemas.microsoft.com/office/drawing/2014/main" id="{7986E9BF-344E-A1C8-6AA7-3DC98259A90C}"/>
              </a:ext>
            </a:extLst>
          </p:cNvPr>
          <p:cNvSpPr>
            <a:spLocks noGrp="1"/>
          </p:cNvSpPr>
          <p:nvPr>
            <p:ph idx="1"/>
          </p:nvPr>
        </p:nvSpPr>
        <p:spPr>
          <a:xfrm>
            <a:off x="838200" y="2141537"/>
            <a:ext cx="10515600" cy="4351338"/>
          </a:xfrm>
        </p:spPr>
        <p:txBody>
          <a:bodyPr>
            <a:normAutofit/>
          </a:bodyPr>
          <a:lstStyle/>
          <a:p>
            <a:r>
              <a:rPr lang="en-US" sz="2000" dirty="0">
                <a:solidFill>
                  <a:schemeClr val="bg1"/>
                </a:solidFill>
                <a:latin typeface="Montserrat" pitchFamily="2" charset="77"/>
              </a:rPr>
              <a:t>Staying vs. leaving</a:t>
            </a:r>
          </a:p>
          <a:p>
            <a:r>
              <a:rPr lang="en-US" sz="2000" dirty="0">
                <a:solidFill>
                  <a:schemeClr val="bg1"/>
                </a:solidFill>
                <a:latin typeface="Montserrat" pitchFamily="2" charset="77"/>
              </a:rPr>
              <a:t>Time vs. potential</a:t>
            </a:r>
          </a:p>
          <a:p>
            <a:r>
              <a:rPr lang="en-US" sz="2000" dirty="0">
                <a:solidFill>
                  <a:schemeClr val="bg1"/>
                </a:solidFill>
                <a:latin typeface="Montserrat" pitchFamily="2" charset="77"/>
              </a:rPr>
              <a:t>What really matters</a:t>
            </a:r>
          </a:p>
          <a:p>
            <a:r>
              <a:rPr lang="en-US" sz="2000" dirty="0">
                <a:solidFill>
                  <a:schemeClr val="bg1"/>
                </a:solidFill>
                <a:latin typeface="Montserrat" pitchFamily="2" charset="77"/>
              </a:rPr>
              <a:t>Love without certainty</a:t>
            </a:r>
          </a:p>
          <a:p>
            <a:r>
              <a:rPr lang="en-US" sz="2000" dirty="0">
                <a:solidFill>
                  <a:schemeClr val="bg1"/>
                </a:solidFill>
                <a:latin typeface="Montserrat" pitchFamily="2" charset="77"/>
              </a:rPr>
              <a:t>Identity beyond expectations</a:t>
            </a:r>
          </a:p>
          <a:p>
            <a:r>
              <a:rPr lang="en-US" sz="2000" dirty="0">
                <a:solidFill>
                  <a:schemeClr val="bg1"/>
                </a:solidFill>
                <a:latin typeface="Montserrat" pitchFamily="2" charset="77"/>
              </a:rPr>
              <a:t>Sacrifice</a:t>
            </a:r>
          </a:p>
        </p:txBody>
      </p:sp>
    </p:spTree>
    <p:extLst>
      <p:ext uri="{BB962C8B-B14F-4D97-AF65-F5344CB8AC3E}">
        <p14:creationId xmlns:p14="http://schemas.microsoft.com/office/powerpoint/2010/main" val="3471997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FD960-9154-1F2F-7F71-096C86952272}"/>
              </a:ext>
            </a:extLst>
          </p:cNvPr>
          <p:cNvSpPr>
            <a:spLocks noGrp="1"/>
          </p:cNvSpPr>
          <p:nvPr>
            <p:ph type="title"/>
          </p:nvPr>
        </p:nvSpPr>
        <p:spPr/>
        <p:txBody>
          <a:bodyPr anchor="b">
            <a:normAutofit/>
          </a:bodyPr>
          <a:lstStyle/>
          <a:p>
            <a:r>
              <a:rPr lang="en-US" sz="4000" dirty="0">
                <a:solidFill>
                  <a:schemeClr val="bg1"/>
                </a:solidFill>
                <a:latin typeface="Montserrat" pitchFamily="2" charset="77"/>
              </a:rPr>
              <a:t>Tone &amp; Feel</a:t>
            </a:r>
          </a:p>
        </p:txBody>
      </p:sp>
      <p:sp>
        <p:nvSpPr>
          <p:cNvPr id="3" name="Content Placeholder 2">
            <a:extLst>
              <a:ext uri="{FF2B5EF4-FFF2-40B4-BE49-F238E27FC236}">
                <a16:creationId xmlns:a16="http://schemas.microsoft.com/office/drawing/2014/main" id="{2AAD7046-FE22-FE34-B575-90C6A0111137}"/>
              </a:ext>
            </a:extLst>
          </p:cNvPr>
          <p:cNvSpPr>
            <a:spLocks noGrp="1"/>
          </p:cNvSpPr>
          <p:nvPr>
            <p:ph idx="1"/>
          </p:nvPr>
        </p:nvSpPr>
        <p:spPr>
          <a:xfrm>
            <a:off x="838200" y="2141537"/>
            <a:ext cx="10515600" cy="4351338"/>
          </a:xfrm>
        </p:spPr>
        <p:txBody>
          <a:bodyPr>
            <a:normAutofit fontScale="70000" lnSpcReduction="20000"/>
          </a:bodyPr>
          <a:lstStyle/>
          <a:p>
            <a:pPr marL="0" lvl="0" indent="0" eaLnBrk="0" fontAlgn="base" hangingPunct="0">
              <a:lnSpc>
                <a:spcPct val="100000"/>
              </a:lnSpc>
              <a:spcBef>
                <a:spcPct val="0"/>
              </a:spcBef>
              <a:spcAft>
                <a:spcPct val="0"/>
              </a:spcAft>
              <a:buFontTx/>
              <a:buChar char="•"/>
            </a:pPr>
            <a:r>
              <a:rPr lang="en-US" altLang="en-US" b="1" dirty="0">
                <a:solidFill>
                  <a:schemeClr val="bg1"/>
                </a:solidFill>
                <a:latin typeface="Montserrat" pitchFamily="2" charset="77"/>
              </a:rPr>
              <a:t>Intimate and Personal</a:t>
            </a:r>
          </a:p>
          <a:p>
            <a:pPr marL="457200" lvl="1" indent="0" eaLnBrk="0" fontAlgn="base" hangingPunct="0">
              <a:lnSpc>
                <a:spcPct val="100000"/>
              </a:lnSpc>
              <a:spcBef>
                <a:spcPct val="0"/>
              </a:spcBef>
              <a:spcAft>
                <a:spcPct val="0"/>
              </a:spcAft>
              <a:buNone/>
            </a:pPr>
            <a:r>
              <a:rPr lang="en-US" altLang="en-US" dirty="0">
                <a:solidFill>
                  <a:schemeClr val="bg1"/>
                </a:solidFill>
                <a:latin typeface="Montserrat" pitchFamily="2" charset="77"/>
              </a:rPr>
              <a:t>The story stays close to the characters, prioritizing small moments, eye contact, and unspoken emotion over large-scale drama.</a:t>
            </a:r>
          </a:p>
          <a:p>
            <a:pPr marL="0" lvl="0" indent="0" eaLnBrk="0" fontAlgn="base" hangingPunct="0">
              <a:lnSpc>
                <a:spcPct val="100000"/>
              </a:lnSpc>
              <a:spcBef>
                <a:spcPct val="0"/>
              </a:spcBef>
              <a:spcAft>
                <a:spcPct val="0"/>
              </a:spcAft>
              <a:buFontTx/>
              <a:buChar char="•"/>
            </a:pPr>
            <a:endParaRPr lang="en-US" altLang="en-US" dirty="0">
              <a:solidFill>
                <a:schemeClr val="bg1"/>
              </a:solidFill>
              <a:latin typeface="Montserrat" pitchFamily="2" charset="77"/>
            </a:endParaRPr>
          </a:p>
          <a:p>
            <a:pPr marL="0" lvl="0" indent="0" eaLnBrk="0" fontAlgn="base" hangingPunct="0">
              <a:lnSpc>
                <a:spcPct val="100000"/>
              </a:lnSpc>
              <a:spcBef>
                <a:spcPct val="0"/>
              </a:spcBef>
              <a:spcAft>
                <a:spcPct val="0"/>
              </a:spcAft>
              <a:buFontTx/>
              <a:buChar char="•"/>
            </a:pPr>
            <a:r>
              <a:rPr lang="en-US" altLang="en-US" b="1" dirty="0">
                <a:solidFill>
                  <a:schemeClr val="bg1"/>
                </a:solidFill>
                <a:latin typeface="Montserrat" pitchFamily="2" charset="77"/>
              </a:rPr>
              <a:t>Quiet, Emotionally Driven</a:t>
            </a:r>
          </a:p>
          <a:p>
            <a:pPr marL="457200" lvl="1" indent="0" eaLnBrk="0" fontAlgn="base" hangingPunct="0">
              <a:lnSpc>
                <a:spcPct val="100000"/>
              </a:lnSpc>
              <a:spcBef>
                <a:spcPct val="0"/>
              </a:spcBef>
              <a:spcAft>
                <a:spcPct val="0"/>
              </a:spcAft>
              <a:buNone/>
            </a:pPr>
            <a:r>
              <a:rPr lang="en-US" altLang="en-US" dirty="0">
                <a:solidFill>
                  <a:schemeClr val="bg1"/>
                </a:solidFill>
                <a:latin typeface="Montserrat" pitchFamily="2" charset="77"/>
              </a:rPr>
              <a:t>The film leans into stillness and subtlety, allowing tension and feeling to build naturally rather than forcing it.</a:t>
            </a:r>
          </a:p>
          <a:p>
            <a:pPr marL="0" lvl="0" indent="0" eaLnBrk="0" fontAlgn="base" hangingPunct="0">
              <a:lnSpc>
                <a:spcPct val="100000"/>
              </a:lnSpc>
              <a:spcBef>
                <a:spcPct val="0"/>
              </a:spcBef>
              <a:spcAft>
                <a:spcPct val="0"/>
              </a:spcAft>
              <a:buFontTx/>
              <a:buChar char="•"/>
            </a:pPr>
            <a:endParaRPr lang="en-US" altLang="en-US" dirty="0">
              <a:solidFill>
                <a:schemeClr val="bg1"/>
              </a:solidFill>
              <a:latin typeface="Montserrat" pitchFamily="2" charset="77"/>
            </a:endParaRPr>
          </a:p>
          <a:p>
            <a:pPr marL="0" lvl="0" indent="0" eaLnBrk="0" fontAlgn="base" hangingPunct="0">
              <a:lnSpc>
                <a:spcPct val="100000"/>
              </a:lnSpc>
              <a:spcBef>
                <a:spcPct val="0"/>
              </a:spcBef>
              <a:spcAft>
                <a:spcPct val="0"/>
              </a:spcAft>
              <a:buFontTx/>
              <a:buChar char="•"/>
            </a:pPr>
            <a:r>
              <a:rPr lang="en-US" altLang="en-US" b="1" dirty="0">
                <a:solidFill>
                  <a:schemeClr val="bg1"/>
                </a:solidFill>
                <a:latin typeface="Montserrat" pitchFamily="2" charset="77"/>
              </a:rPr>
              <a:t>Natural, Grounded Dialogue</a:t>
            </a:r>
          </a:p>
          <a:p>
            <a:pPr marL="457200" lvl="1" indent="0" eaLnBrk="0" fontAlgn="base" hangingPunct="0">
              <a:lnSpc>
                <a:spcPct val="100000"/>
              </a:lnSpc>
              <a:spcBef>
                <a:spcPct val="0"/>
              </a:spcBef>
              <a:spcAft>
                <a:spcPct val="0"/>
              </a:spcAft>
              <a:buNone/>
            </a:pPr>
            <a:r>
              <a:rPr lang="en-US" altLang="en-US" dirty="0">
                <a:solidFill>
                  <a:schemeClr val="bg1"/>
                </a:solidFill>
                <a:latin typeface="Montserrat" pitchFamily="2" charset="77"/>
              </a:rPr>
              <a:t>Conversations feel authentic to real teenagers—awkward at times, playful at others, and never overly polished.</a:t>
            </a:r>
          </a:p>
          <a:p>
            <a:pPr marL="0" lvl="0" indent="0" eaLnBrk="0" fontAlgn="base" hangingPunct="0">
              <a:lnSpc>
                <a:spcPct val="100000"/>
              </a:lnSpc>
              <a:spcBef>
                <a:spcPct val="0"/>
              </a:spcBef>
              <a:spcAft>
                <a:spcPct val="0"/>
              </a:spcAft>
              <a:buFontTx/>
              <a:buChar char="•"/>
            </a:pPr>
            <a:endParaRPr lang="en-US" altLang="en-US" dirty="0">
              <a:solidFill>
                <a:schemeClr val="bg1"/>
              </a:solidFill>
              <a:latin typeface="Montserrat" pitchFamily="2" charset="77"/>
            </a:endParaRPr>
          </a:p>
          <a:p>
            <a:pPr marL="0" lvl="0" indent="0" eaLnBrk="0" fontAlgn="base" hangingPunct="0">
              <a:lnSpc>
                <a:spcPct val="100000"/>
              </a:lnSpc>
              <a:spcBef>
                <a:spcPct val="0"/>
              </a:spcBef>
              <a:spcAft>
                <a:spcPct val="0"/>
              </a:spcAft>
              <a:buFontTx/>
              <a:buChar char="•"/>
            </a:pPr>
            <a:r>
              <a:rPr lang="en-US" altLang="en-US" b="1" dirty="0">
                <a:solidFill>
                  <a:schemeClr val="bg1"/>
                </a:solidFill>
                <a:latin typeface="Montserrat" pitchFamily="2" charset="77"/>
              </a:rPr>
              <a:t>Slow-Burn Connection</a:t>
            </a:r>
          </a:p>
          <a:p>
            <a:pPr marL="457200" lvl="1" indent="0" eaLnBrk="0" fontAlgn="base" hangingPunct="0">
              <a:lnSpc>
                <a:spcPct val="100000"/>
              </a:lnSpc>
              <a:spcBef>
                <a:spcPct val="0"/>
              </a:spcBef>
              <a:spcAft>
                <a:spcPct val="0"/>
              </a:spcAft>
              <a:buNone/>
            </a:pPr>
            <a:r>
              <a:rPr lang="en-US" altLang="en-US" dirty="0">
                <a:solidFill>
                  <a:schemeClr val="bg1"/>
                </a:solidFill>
                <a:latin typeface="Montserrat" pitchFamily="2" charset="77"/>
              </a:rPr>
              <a:t>The relationship develops gradually, with emotional weight building over time.</a:t>
            </a:r>
          </a:p>
          <a:p>
            <a:pPr marL="0" lvl="0" indent="0" eaLnBrk="0" fontAlgn="base" hangingPunct="0">
              <a:lnSpc>
                <a:spcPct val="100000"/>
              </a:lnSpc>
              <a:spcBef>
                <a:spcPct val="0"/>
              </a:spcBef>
              <a:spcAft>
                <a:spcPct val="0"/>
              </a:spcAft>
              <a:buFontTx/>
              <a:buChar char="•"/>
            </a:pPr>
            <a:endParaRPr lang="en-US" altLang="en-US" dirty="0">
              <a:solidFill>
                <a:schemeClr val="bg1"/>
              </a:solidFill>
              <a:latin typeface="Montserrat" pitchFamily="2" charset="77"/>
            </a:endParaRPr>
          </a:p>
          <a:p>
            <a:pPr marL="0" lvl="0" indent="0" eaLnBrk="0" fontAlgn="base" hangingPunct="0">
              <a:lnSpc>
                <a:spcPct val="100000"/>
              </a:lnSpc>
              <a:spcBef>
                <a:spcPct val="0"/>
              </a:spcBef>
              <a:spcAft>
                <a:spcPct val="0"/>
              </a:spcAft>
              <a:buFontTx/>
              <a:buChar char="•"/>
            </a:pPr>
            <a:r>
              <a:rPr lang="en-US" altLang="en-US" b="1" dirty="0">
                <a:solidFill>
                  <a:schemeClr val="bg1"/>
                </a:solidFill>
                <a:latin typeface="Montserrat" pitchFamily="2" charset="77"/>
              </a:rPr>
              <a:t>Bittersweet Progression</a:t>
            </a:r>
          </a:p>
          <a:p>
            <a:pPr marL="457200" lvl="1" indent="0" eaLnBrk="0" fontAlgn="base" hangingPunct="0">
              <a:lnSpc>
                <a:spcPct val="100000"/>
              </a:lnSpc>
              <a:spcBef>
                <a:spcPct val="0"/>
              </a:spcBef>
              <a:spcAft>
                <a:spcPct val="0"/>
              </a:spcAft>
              <a:buNone/>
            </a:pPr>
            <a:r>
              <a:rPr lang="en-US" altLang="en-US" dirty="0">
                <a:solidFill>
                  <a:schemeClr val="bg1"/>
                </a:solidFill>
                <a:latin typeface="Montserrat" pitchFamily="2" charset="77"/>
              </a:rPr>
              <a:t>Light, warm moments slowly give way to heavier, more emotionally complex scenes.</a:t>
            </a:r>
          </a:p>
          <a:p>
            <a:endParaRPr lang="en-US" dirty="0">
              <a:solidFill>
                <a:schemeClr val="bg1"/>
              </a:solidFill>
              <a:latin typeface="Montserrat" pitchFamily="2" charset="77"/>
            </a:endParaRPr>
          </a:p>
        </p:txBody>
      </p:sp>
    </p:spTree>
    <p:extLst>
      <p:ext uri="{BB962C8B-B14F-4D97-AF65-F5344CB8AC3E}">
        <p14:creationId xmlns:p14="http://schemas.microsoft.com/office/powerpoint/2010/main" val="1052761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9F3CB-E76D-9661-CA5D-17D0D1ACAD2D}"/>
              </a:ext>
            </a:extLst>
          </p:cNvPr>
          <p:cNvSpPr>
            <a:spLocks noGrp="1"/>
          </p:cNvSpPr>
          <p:nvPr>
            <p:ph type="title"/>
          </p:nvPr>
        </p:nvSpPr>
        <p:spPr/>
        <p:txBody>
          <a:bodyPr anchor="b">
            <a:normAutofit/>
          </a:bodyPr>
          <a:lstStyle/>
          <a:p>
            <a:r>
              <a:rPr lang="en-US" sz="4000" dirty="0">
                <a:solidFill>
                  <a:schemeClr val="bg1"/>
                </a:solidFill>
                <a:latin typeface="Montserrat" pitchFamily="2" charset="77"/>
              </a:rPr>
              <a:t>Noah</a:t>
            </a:r>
          </a:p>
        </p:txBody>
      </p:sp>
      <p:sp>
        <p:nvSpPr>
          <p:cNvPr id="3" name="Content Placeholder 2">
            <a:extLst>
              <a:ext uri="{FF2B5EF4-FFF2-40B4-BE49-F238E27FC236}">
                <a16:creationId xmlns:a16="http://schemas.microsoft.com/office/drawing/2014/main" id="{784013CB-59C1-523E-1088-D9F2CC0072EB}"/>
              </a:ext>
            </a:extLst>
          </p:cNvPr>
          <p:cNvSpPr>
            <a:spLocks noGrp="1"/>
          </p:cNvSpPr>
          <p:nvPr>
            <p:ph idx="1"/>
          </p:nvPr>
        </p:nvSpPr>
        <p:spPr>
          <a:xfrm>
            <a:off x="838200" y="2141537"/>
            <a:ext cx="10515600" cy="4351338"/>
          </a:xfrm>
        </p:spPr>
        <p:txBody>
          <a:bodyPr>
            <a:normAutofit/>
          </a:bodyPr>
          <a:lstStyle/>
          <a:p>
            <a:r>
              <a:rPr lang="en-US" sz="2000" dirty="0">
                <a:solidFill>
                  <a:schemeClr val="bg1"/>
                </a:solidFill>
                <a:latin typeface="Montserrat" pitchFamily="2" charset="77"/>
              </a:rPr>
              <a:t>Driven and talented, but emotionally disconnected at the start</a:t>
            </a:r>
          </a:p>
          <a:p>
            <a:r>
              <a:rPr lang="en-US" sz="2000" dirty="0">
                <a:solidFill>
                  <a:schemeClr val="bg1"/>
                </a:solidFill>
                <a:latin typeface="Montserrat" pitchFamily="2" charset="77"/>
              </a:rPr>
              <a:t>Feels pressure to live up to expectations and secure his future</a:t>
            </a:r>
          </a:p>
          <a:p>
            <a:r>
              <a:rPr lang="en-US" sz="2000" dirty="0">
                <a:solidFill>
                  <a:schemeClr val="bg1"/>
                </a:solidFill>
                <a:latin typeface="Montserrat" pitchFamily="2" charset="77"/>
              </a:rPr>
              <a:t>Struggles between ambition and genuine connection</a:t>
            </a:r>
          </a:p>
          <a:p>
            <a:r>
              <a:rPr lang="en-US" sz="2000" dirty="0">
                <a:solidFill>
                  <a:schemeClr val="bg1"/>
                </a:solidFill>
                <a:latin typeface="Montserrat" pitchFamily="2" charset="77"/>
              </a:rPr>
              <a:t>Through Ava, begins to question what success really means</a:t>
            </a:r>
          </a:p>
        </p:txBody>
      </p:sp>
    </p:spTree>
    <p:extLst>
      <p:ext uri="{BB962C8B-B14F-4D97-AF65-F5344CB8AC3E}">
        <p14:creationId xmlns:p14="http://schemas.microsoft.com/office/powerpoint/2010/main" val="3853241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D1584-10DA-4515-8B36-C8DEB8D1DFB6}"/>
              </a:ext>
            </a:extLst>
          </p:cNvPr>
          <p:cNvSpPr>
            <a:spLocks noGrp="1"/>
          </p:cNvSpPr>
          <p:nvPr>
            <p:ph type="title"/>
          </p:nvPr>
        </p:nvSpPr>
        <p:spPr/>
        <p:txBody>
          <a:bodyPr anchor="b">
            <a:normAutofit/>
          </a:bodyPr>
          <a:lstStyle/>
          <a:p>
            <a:r>
              <a:rPr lang="en-US" sz="4000" dirty="0">
                <a:solidFill>
                  <a:schemeClr val="bg1"/>
                </a:solidFill>
                <a:latin typeface="Montserrat" pitchFamily="2" charset="77"/>
              </a:rPr>
              <a:t>Ava</a:t>
            </a:r>
          </a:p>
        </p:txBody>
      </p:sp>
      <p:sp>
        <p:nvSpPr>
          <p:cNvPr id="3" name="Content Placeholder 2">
            <a:extLst>
              <a:ext uri="{FF2B5EF4-FFF2-40B4-BE49-F238E27FC236}">
                <a16:creationId xmlns:a16="http://schemas.microsoft.com/office/drawing/2014/main" id="{CA06A9BB-AA91-BEE9-7708-909735345ED6}"/>
              </a:ext>
            </a:extLst>
          </p:cNvPr>
          <p:cNvSpPr>
            <a:spLocks noGrp="1"/>
          </p:cNvSpPr>
          <p:nvPr>
            <p:ph idx="1"/>
          </p:nvPr>
        </p:nvSpPr>
        <p:spPr>
          <a:xfrm>
            <a:off x="838200" y="2141537"/>
            <a:ext cx="10515600" cy="4351338"/>
          </a:xfrm>
        </p:spPr>
        <p:txBody>
          <a:bodyPr>
            <a:normAutofit/>
          </a:bodyPr>
          <a:lstStyle/>
          <a:p>
            <a:r>
              <a:rPr lang="en-US" sz="2000" dirty="0">
                <a:solidFill>
                  <a:schemeClr val="bg1"/>
                </a:solidFill>
                <a:latin typeface="Montserrat" pitchFamily="2" charset="77"/>
              </a:rPr>
              <a:t>Smart, sarcastic, and emotionally perceptive</a:t>
            </a:r>
          </a:p>
          <a:p>
            <a:r>
              <a:rPr lang="en-US" sz="2000" dirty="0">
                <a:solidFill>
                  <a:schemeClr val="bg1"/>
                </a:solidFill>
                <a:latin typeface="Montserrat" pitchFamily="2" charset="77"/>
              </a:rPr>
              <a:t>Physically limited, but mentally and emotionally strong</a:t>
            </a:r>
          </a:p>
          <a:p>
            <a:r>
              <a:rPr lang="en-US" sz="2000" dirty="0">
                <a:solidFill>
                  <a:schemeClr val="bg1"/>
                </a:solidFill>
                <a:latin typeface="Montserrat" pitchFamily="2" charset="77"/>
              </a:rPr>
              <a:t>Struggles with being seen as temporary or fragile</a:t>
            </a:r>
          </a:p>
          <a:p>
            <a:r>
              <a:rPr lang="en-US" sz="2000" dirty="0">
                <a:solidFill>
                  <a:schemeClr val="bg1"/>
                </a:solidFill>
                <a:latin typeface="Montserrat" pitchFamily="2" charset="77"/>
              </a:rPr>
              <a:t>Values honesty and connection over sympathy</a:t>
            </a:r>
          </a:p>
        </p:txBody>
      </p:sp>
    </p:spTree>
    <p:extLst>
      <p:ext uri="{BB962C8B-B14F-4D97-AF65-F5344CB8AC3E}">
        <p14:creationId xmlns:p14="http://schemas.microsoft.com/office/powerpoint/2010/main" val="287753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B0C43-926C-03CB-BEA3-A35163456486}"/>
              </a:ext>
            </a:extLst>
          </p:cNvPr>
          <p:cNvSpPr>
            <a:spLocks noGrp="1"/>
          </p:cNvSpPr>
          <p:nvPr>
            <p:ph type="title"/>
          </p:nvPr>
        </p:nvSpPr>
        <p:spPr/>
        <p:txBody>
          <a:bodyPr anchor="b">
            <a:normAutofit/>
          </a:bodyPr>
          <a:lstStyle/>
          <a:p>
            <a:r>
              <a:rPr lang="en-US" sz="4000" dirty="0">
                <a:solidFill>
                  <a:schemeClr val="bg1"/>
                </a:solidFill>
                <a:latin typeface="Montserrat" pitchFamily="2" charset="77"/>
              </a:rPr>
              <a:t>Why this story matters</a:t>
            </a:r>
          </a:p>
        </p:txBody>
      </p:sp>
      <p:sp>
        <p:nvSpPr>
          <p:cNvPr id="3" name="Content Placeholder 2">
            <a:extLst>
              <a:ext uri="{FF2B5EF4-FFF2-40B4-BE49-F238E27FC236}">
                <a16:creationId xmlns:a16="http://schemas.microsoft.com/office/drawing/2014/main" id="{569E2DBD-D487-C7CF-31EB-BF8DF0342C89}"/>
              </a:ext>
            </a:extLst>
          </p:cNvPr>
          <p:cNvSpPr>
            <a:spLocks noGrp="1"/>
          </p:cNvSpPr>
          <p:nvPr>
            <p:ph idx="1"/>
          </p:nvPr>
        </p:nvSpPr>
        <p:spPr>
          <a:xfrm>
            <a:off x="838200" y="2141537"/>
            <a:ext cx="10515600" cy="4351338"/>
          </a:xfrm>
        </p:spPr>
        <p:txBody>
          <a:bodyPr>
            <a:normAutofit/>
          </a:bodyPr>
          <a:lstStyle/>
          <a:p>
            <a:pPr marL="0" lvl="0" indent="0" eaLnBrk="0" fontAlgn="base" hangingPunct="0">
              <a:lnSpc>
                <a:spcPct val="100000"/>
              </a:lnSpc>
              <a:spcBef>
                <a:spcPct val="0"/>
              </a:spcBef>
              <a:spcAft>
                <a:spcPct val="0"/>
              </a:spcAft>
              <a:buNone/>
            </a:pPr>
            <a:r>
              <a:rPr lang="en-US" altLang="en-US" sz="2000" b="1" dirty="0">
                <a:solidFill>
                  <a:schemeClr val="bg1"/>
                </a:solidFill>
                <a:latin typeface="Arial" panose="020B0604020202020204" pitchFamily="34" charset="0"/>
              </a:rPr>
              <a:t>•It challenges what it means to choose love over ambition</a:t>
            </a:r>
          </a:p>
          <a:p>
            <a:pPr marL="457200" lvl="1" indent="0" eaLnBrk="0" fontAlgn="base" hangingPunct="0">
              <a:lnSpc>
                <a:spcPct val="100000"/>
              </a:lnSpc>
              <a:spcBef>
                <a:spcPct val="0"/>
              </a:spcBef>
              <a:spcAft>
                <a:spcPct val="0"/>
              </a:spcAft>
              <a:buNone/>
            </a:pPr>
            <a:r>
              <a:rPr lang="en-US" altLang="en-US" sz="1700" dirty="0">
                <a:solidFill>
                  <a:schemeClr val="bg1"/>
                </a:solidFill>
                <a:latin typeface="Arial" panose="020B0604020202020204" pitchFamily="34" charset="0"/>
              </a:rPr>
              <a:t>Questioning whether success is defined by achievement or by the people we choose to hold onto.</a:t>
            </a:r>
          </a:p>
          <a:p>
            <a:pPr marL="0" lvl="0" indent="0" eaLnBrk="0" fontAlgn="base" hangingPunct="0">
              <a:lnSpc>
                <a:spcPct val="100000"/>
              </a:lnSpc>
              <a:spcBef>
                <a:spcPct val="0"/>
              </a:spcBef>
              <a:spcAft>
                <a:spcPct val="0"/>
              </a:spcAft>
              <a:buFontTx/>
              <a:buChar char="•"/>
            </a:pPr>
            <a:r>
              <a:rPr lang="en-US" altLang="en-US" sz="2000" b="1" dirty="0">
                <a:solidFill>
                  <a:schemeClr val="bg1"/>
                </a:solidFill>
                <a:latin typeface="Arial" panose="020B0604020202020204" pitchFamily="34" charset="0"/>
              </a:rPr>
              <a:t>It highlights lives often overlooked</a:t>
            </a:r>
          </a:p>
          <a:p>
            <a:pPr marL="457200" lvl="1" indent="0" eaLnBrk="0" fontAlgn="base" hangingPunct="0">
              <a:lnSpc>
                <a:spcPct val="100000"/>
              </a:lnSpc>
              <a:spcBef>
                <a:spcPct val="0"/>
              </a:spcBef>
              <a:spcAft>
                <a:spcPct val="0"/>
              </a:spcAft>
              <a:buNone/>
            </a:pPr>
            <a:r>
              <a:rPr lang="en-US" altLang="en-US" sz="1700" dirty="0">
                <a:solidFill>
                  <a:schemeClr val="bg1"/>
                </a:solidFill>
                <a:latin typeface="Arial" panose="020B0604020202020204" pitchFamily="34" charset="0"/>
              </a:rPr>
              <a:t>Bringing attention to those living with chronic illness and emotional isolation, without reducing them to their condition.</a:t>
            </a:r>
          </a:p>
          <a:p>
            <a:pPr marL="0" lvl="0" indent="0" eaLnBrk="0" fontAlgn="base" hangingPunct="0">
              <a:lnSpc>
                <a:spcPct val="100000"/>
              </a:lnSpc>
              <a:spcBef>
                <a:spcPct val="0"/>
              </a:spcBef>
              <a:spcAft>
                <a:spcPct val="0"/>
              </a:spcAft>
              <a:buFontTx/>
              <a:buChar char="•"/>
            </a:pPr>
            <a:r>
              <a:rPr lang="en-US" altLang="en-US" sz="2000" b="1" dirty="0">
                <a:solidFill>
                  <a:schemeClr val="bg1"/>
                </a:solidFill>
                <a:latin typeface="Arial" panose="020B0604020202020204" pitchFamily="34" charset="0"/>
              </a:rPr>
              <a:t>It explores the unseen struggles people carry</a:t>
            </a:r>
          </a:p>
          <a:p>
            <a:pPr marL="457200" lvl="1" indent="0" eaLnBrk="0" fontAlgn="base" hangingPunct="0">
              <a:lnSpc>
                <a:spcPct val="100000"/>
              </a:lnSpc>
              <a:spcBef>
                <a:spcPct val="0"/>
              </a:spcBef>
              <a:spcAft>
                <a:spcPct val="0"/>
              </a:spcAft>
              <a:buNone/>
            </a:pPr>
            <a:r>
              <a:rPr lang="en-US" altLang="en-US" sz="1600" dirty="0">
                <a:solidFill>
                  <a:schemeClr val="bg1"/>
                </a:solidFill>
                <a:latin typeface="Arial" panose="020B0604020202020204" pitchFamily="34" charset="0"/>
              </a:rPr>
              <a:t>Reminding us that not everything people go through is visible.</a:t>
            </a:r>
          </a:p>
          <a:p>
            <a:pPr marL="0" lvl="0" indent="0" eaLnBrk="0" fontAlgn="base" hangingPunct="0">
              <a:lnSpc>
                <a:spcPct val="100000"/>
              </a:lnSpc>
              <a:spcBef>
                <a:spcPct val="0"/>
              </a:spcBef>
              <a:spcAft>
                <a:spcPct val="0"/>
              </a:spcAft>
              <a:buFontTx/>
              <a:buChar char="•"/>
            </a:pPr>
            <a:r>
              <a:rPr lang="en-US" altLang="en-US" sz="2000" b="1" dirty="0">
                <a:solidFill>
                  <a:schemeClr val="bg1"/>
                </a:solidFill>
                <a:latin typeface="Arial" panose="020B0604020202020204" pitchFamily="34" charset="0"/>
              </a:rPr>
              <a:t>It emphasizes presence over permanence</a:t>
            </a:r>
          </a:p>
          <a:p>
            <a:pPr marL="457200" lvl="1" indent="0" eaLnBrk="0" fontAlgn="base" hangingPunct="0">
              <a:lnSpc>
                <a:spcPct val="100000"/>
              </a:lnSpc>
              <a:spcBef>
                <a:spcPct val="0"/>
              </a:spcBef>
              <a:spcAft>
                <a:spcPct val="0"/>
              </a:spcAft>
              <a:buNone/>
            </a:pPr>
            <a:r>
              <a:rPr lang="en-US" altLang="en-US" sz="1600" dirty="0">
                <a:solidFill>
                  <a:schemeClr val="bg1"/>
                </a:solidFill>
                <a:latin typeface="Arial" panose="020B0604020202020204" pitchFamily="34" charset="0"/>
              </a:rPr>
              <a:t>Showing that the value of a relationship isn’t defined by how long it lasts, but by its impact.</a:t>
            </a:r>
          </a:p>
          <a:p>
            <a:pPr marL="0" lvl="0" indent="0" eaLnBrk="0" fontAlgn="base" hangingPunct="0">
              <a:lnSpc>
                <a:spcPct val="100000"/>
              </a:lnSpc>
              <a:spcBef>
                <a:spcPct val="0"/>
              </a:spcBef>
              <a:spcAft>
                <a:spcPct val="0"/>
              </a:spcAft>
              <a:buNone/>
            </a:pPr>
            <a:endParaRPr lang="en-US" altLang="en-US" sz="2400" dirty="0">
              <a:solidFill>
                <a:schemeClr val="bg1"/>
              </a:solidFill>
              <a:latin typeface="Arial" panose="020B0604020202020204" pitchFamily="34" charset="0"/>
            </a:endParaRPr>
          </a:p>
        </p:txBody>
      </p:sp>
    </p:spTree>
    <p:extLst>
      <p:ext uri="{BB962C8B-B14F-4D97-AF65-F5344CB8AC3E}">
        <p14:creationId xmlns:p14="http://schemas.microsoft.com/office/powerpoint/2010/main" val="1986017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EF212-BC93-B274-3633-03C1C17B5C1C}"/>
              </a:ext>
            </a:extLst>
          </p:cNvPr>
          <p:cNvSpPr>
            <a:spLocks noGrp="1"/>
          </p:cNvSpPr>
          <p:nvPr>
            <p:ph type="title"/>
          </p:nvPr>
        </p:nvSpPr>
        <p:spPr/>
        <p:txBody>
          <a:bodyPr anchor="b">
            <a:normAutofit/>
          </a:bodyPr>
          <a:lstStyle/>
          <a:p>
            <a:r>
              <a:rPr lang="en-US" sz="4000" dirty="0">
                <a:solidFill>
                  <a:schemeClr val="bg1"/>
                </a:solidFill>
                <a:latin typeface="Montserrat" pitchFamily="2" charset="77"/>
              </a:rPr>
              <a:t>Target Audience / Comparables</a:t>
            </a:r>
          </a:p>
        </p:txBody>
      </p:sp>
      <p:sp>
        <p:nvSpPr>
          <p:cNvPr id="3" name="Content Placeholder 2">
            <a:extLst>
              <a:ext uri="{FF2B5EF4-FFF2-40B4-BE49-F238E27FC236}">
                <a16:creationId xmlns:a16="http://schemas.microsoft.com/office/drawing/2014/main" id="{D241C770-E9F0-2800-267E-6F4C6BCF1E73}"/>
              </a:ext>
            </a:extLst>
          </p:cNvPr>
          <p:cNvSpPr>
            <a:spLocks noGrp="1"/>
          </p:cNvSpPr>
          <p:nvPr>
            <p:ph idx="1"/>
          </p:nvPr>
        </p:nvSpPr>
        <p:spPr>
          <a:xfrm>
            <a:off x="838200" y="2141537"/>
            <a:ext cx="10515600" cy="4351338"/>
          </a:xfrm>
        </p:spPr>
        <p:txBody>
          <a:bodyPr/>
          <a:lstStyle/>
          <a:p>
            <a:pPr marL="0" indent="0">
              <a:buNone/>
            </a:pPr>
            <a:r>
              <a:rPr lang="en-US" sz="2000" dirty="0">
                <a:solidFill>
                  <a:schemeClr val="bg1"/>
                </a:solidFill>
                <a:latin typeface="Montserrat" pitchFamily="2" charset="77"/>
              </a:rPr>
              <a:t>Target audience</a:t>
            </a:r>
          </a:p>
          <a:p>
            <a:r>
              <a:rPr lang="en-US" sz="1700" dirty="0">
                <a:solidFill>
                  <a:schemeClr val="bg1"/>
                </a:solidFill>
                <a:latin typeface="Montserrat" pitchFamily="2" charset="77"/>
              </a:rPr>
              <a:t>Teens / Young Adults</a:t>
            </a:r>
          </a:p>
          <a:p>
            <a:endParaRPr lang="en-US" sz="1700" dirty="0">
              <a:solidFill>
                <a:schemeClr val="bg1"/>
              </a:solidFill>
              <a:latin typeface="Montserrat" pitchFamily="2" charset="77"/>
            </a:endParaRPr>
          </a:p>
          <a:p>
            <a:pPr marL="0" indent="0">
              <a:buNone/>
            </a:pPr>
            <a:endParaRPr lang="en-US" sz="1700" dirty="0">
              <a:solidFill>
                <a:schemeClr val="bg1"/>
              </a:solidFill>
              <a:latin typeface="Montserrat" pitchFamily="2" charset="77"/>
            </a:endParaRPr>
          </a:p>
          <a:p>
            <a:pPr marL="0" indent="0">
              <a:buNone/>
            </a:pPr>
            <a:r>
              <a:rPr lang="en-US" sz="2000" dirty="0">
                <a:solidFill>
                  <a:schemeClr val="bg1"/>
                </a:solidFill>
                <a:latin typeface="Montserrat" pitchFamily="2" charset="77"/>
              </a:rPr>
              <a:t>Comparables</a:t>
            </a:r>
          </a:p>
          <a:p>
            <a:r>
              <a:rPr lang="en-US" sz="1700" dirty="0">
                <a:solidFill>
                  <a:schemeClr val="bg1"/>
                </a:solidFill>
                <a:latin typeface="Montserrat" pitchFamily="2" charset="77"/>
              </a:rPr>
              <a:t>The Fault in Our Stars</a:t>
            </a:r>
          </a:p>
          <a:p>
            <a:r>
              <a:rPr lang="en-US" sz="1700" dirty="0">
                <a:solidFill>
                  <a:schemeClr val="bg1"/>
                </a:solidFill>
                <a:latin typeface="Montserrat" pitchFamily="2" charset="77"/>
              </a:rPr>
              <a:t>Five Feet Apart</a:t>
            </a:r>
          </a:p>
          <a:p>
            <a:r>
              <a:rPr lang="en-US" sz="1700" dirty="0">
                <a:solidFill>
                  <a:schemeClr val="bg1"/>
                </a:solidFill>
                <a:latin typeface="Montserrat" pitchFamily="2" charset="77"/>
              </a:rPr>
              <a:t>A Walk to Remember</a:t>
            </a:r>
          </a:p>
          <a:p>
            <a:pPr marL="0" indent="0">
              <a:buNone/>
            </a:pPr>
            <a:endParaRPr lang="en-US" dirty="0">
              <a:solidFill>
                <a:schemeClr val="bg1"/>
              </a:solidFill>
              <a:latin typeface="Montserrat" pitchFamily="2" charset="77"/>
            </a:endParaRPr>
          </a:p>
        </p:txBody>
      </p:sp>
    </p:spTree>
    <p:extLst>
      <p:ext uri="{BB962C8B-B14F-4D97-AF65-F5344CB8AC3E}">
        <p14:creationId xmlns:p14="http://schemas.microsoft.com/office/powerpoint/2010/main" val="1016078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47463-AE1B-30EC-6BF2-24624F6C1011}"/>
              </a:ext>
            </a:extLst>
          </p:cNvPr>
          <p:cNvSpPr>
            <a:spLocks noGrp="1"/>
          </p:cNvSpPr>
          <p:nvPr>
            <p:ph type="title"/>
          </p:nvPr>
        </p:nvSpPr>
        <p:spPr/>
        <p:txBody>
          <a:bodyPr anchor="b">
            <a:normAutofit/>
          </a:bodyPr>
          <a:lstStyle/>
          <a:p>
            <a:r>
              <a:rPr lang="en-US" sz="4000" dirty="0">
                <a:solidFill>
                  <a:schemeClr val="bg1"/>
                </a:solidFill>
                <a:latin typeface="Montserrat" pitchFamily="2" charset="77"/>
              </a:rPr>
              <a:t>Production Overview</a:t>
            </a:r>
          </a:p>
        </p:txBody>
      </p:sp>
      <p:sp>
        <p:nvSpPr>
          <p:cNvPr id="3" name="Content Placeholder 2">
            <a:extLst>
              <a:ext uri="{FF2B5EF4-FFF2-40B4-BE49-F238E27FC236}">
                <a16:creationId xmlns:a16="http://schemas.microsoft.com/office/drawing/2014/main" id="{270520E0-672E-4BE5-AEDA-CE8C64E81287}"/>
              </a:ext>
            </a:extLst>
          </p:cNvPr>
          <p:cNvSpPr>
            <a:spLocks noGrp="1"/>
          </p:cNvSpPr>
          <p:nvPr>
            <p:ph idx="1"/>
          </p:nvPr>
        </p:nvSpPr>
        <p:spPr>
          <a:xfrm>
            <a:off x="838200" y="2141537"/>
            <a:ext cx="10515600" cy="4351338"/>
          </a:xfrm>
        </p:spPr>
        <p:txBody>
          <a:bodyPr>
            <a:normAutofit/>
          </a:bodyPr>
          <a:lstStyle/>
          <a:p>
            <a:pPr marL="0" indent="0">
              <a:buNone/>
            </a:pPr>
            <a:r>
              <a:rPr lang="en-US" sz="2000" dirty="0">
                <a:solidFill>
                  <a:schemeClr val="bg1"/>
                </a:solidFill>
                <a:latin typeface="Montserrat" pitchFamily="2" charset="77"/>
              </a:rPr>
              <a:t>Format: Feature Film</a:t>
            </a:r>
          </a:p>
          <a:p>
            <a:pPr marL="0" indent="0">
              <a:buNone/>
            </a:pPr>
            <a:r>
              <a:rPr lang="en-US" sz="2000" dirty="0">
                <a:solidFill>
                  <a:schemeClr val="bg1"/>
                </a:solidFill>
                <a:latin typeface="Montserrat" pitchFamily="2" charset="77"/>
              </a:rPr>
              <a:t>Estimated Budget Range: Mid to High Budget Indie (TBD)</a:t>
            </a:r>
          </a:p>
          <a:p>
            <a:pPr marL="0" indent="0">
              <a:buNone/>
            </a:pPr>
            <a:r>
              <a:rPr lang="en-US" sz="2000" dirty="0">
                <a:solidFill>
                  <a:schemeClr val="bg1"/>
                </a:solidFill>
                <a:latin typeface="Montserrat" pitchFamily="2" charset="77"/>
              </a:rPr>
              <a:t>Location Style: Suburban / Contained Environments</a:t>
            </a:r>
          </a:p>
        </p:txBody>
      </p:sp>
    </p:spTree>
    <p:extLst>
      <p:ext uri="{BB962C8B-B14F-4D97-AF65-F5344CB8AC3E}">
        <p14:creationId xmlns:p14="http://schemas.microsoft.com/office/powerpoint/2010/main" val="2503982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0977-B2F9-0E82-373D-F482953181A4}"/>
              </a:ext>
            </a:extLst>
          </p:cNvPr>
          <p:cNvSpPr>
            <a:spLocks noGrp="1"/>
          </p:cNvSpPr>
          <p:nvPr>
            <p:ph type="title"/>
          </p:nvPr>
        </p:nvSpPr>
        <p:spPr/>
        <p:txBody>
          <a:bodyPr anchor="b">
            <a:normAutofit/>
          </a:bodyPr>
          <a:lstStyle/>
          <a:p>
            <a:r>
              <a:rPr lang="en-US" sz="4000" dirty="0">
                <a:solidFill>
                  <a:schemeClr val="bg1"/>
                </a:solidFill>
                <a:latin typeface="Montserrat" pitchFamily="2" charset="77"/>
              </a:rPr>
              <a:t>William’s Role</a:t>
            </a:r>
          </a:p>
        </p:txBody>
      </p:sp>
      <p:sp>
        <p:nvSpPr>
          <p:cNvPr id="3" name="Content Placeholder 2">
            <a:extLst>
              <a:ext uri="{FF2B5EF4-FFF2-40B4-BE49-F238E27FC236}">
                <a16:creationId xmlns:a16="http://schemas.microsoft.com/office/drawing/2014/main" id="{96566902-0C1E-0E4E-F669-D6009FB3C3AD}"/>
              </a:ext>
            </a:extLst>
          </p:cNvPr>
          <p:cNvSpPr>
            <a:spLocks noGrp="1"/>
          </p:cNvSpPr>
          <p:nvPr>
            <p:ph idx="1"/>
          </p:nvPr>
        </p:nvSpPr>
        <p:spPr>
          <a:xfrm>
            <a:off x="838200" y="2141537"/>
            <a:ext cx="10515600" cy="4351338"/>
          </a:xfrm>
        </p:spPr>
        <p:txBody>
          <a:bodyPr>
            <a:normAutofit/>
          </a:bodyPr>
          <a:lstStyle/>
          <a:p>
            <a:pPr marL="0" indent="0">
              <a:buNone/>
            </a:pPr>
            <a:r>
              <a:rPr lang="en-US" sz="2000" dirty="0">
                <a:solidFill>
                  <a:schemeClr val="bg1"/>
                </a:solidFill>
                <a:latin typeface="Montserrat" pitchFamily="2" charset="77"/>
              </a:rPr>
              <a:t>Writer</a:t>
            </a:r>
          </a:p>
          <a:p>
            <a:pPr marL="0" indent="0">
              <a:buNone/>
            </a:pPr>
            <a:r>
              <a:rPr lang="en-US" sz="2000" dirty="0">
                <a:solidFill>
                  <a:schemeClr val="bg1"/>
                </a:solidFill>
                <a:latin typeface="Montserrat" pitchFamily="2" charset="77"/>
              </a:rPr>
              <a:t>Producer</a:t>
            </a:r>
          </a:p>
          <a:p>
            <a:pPr marL="0" indent="0">
              <a:buNone/>
            </a:pPr>
            <a:r>
              <a:rPr lang="en-US" sz="2000" dirty="0">
                <a:solidFill>
                  <a:schemeClr val="bg1"/>
                </a:solidFill>
                <a:latin typeface="Montserrat" pitchFamily="2" charset="77"/>
              </a:rPr>
              <a:t>Lead Actor (Noah)</a:t>
            </a:r>
          </a:p>
        </p:txBody>
      </p:sp>
    </p:spTree>
    <p:extLst>
      <p:ext uri="{BB962C8B-B14F-4D97-AF65-F5344CB8AC3E}">
        <p14:creationId xmlns:p14="http://schemas.microsoft.com/office/powerpoint/2010/main" val="464740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5ACB8-94A8-CDB2-CC28-50617E4E89A0}"/>
              </a:ext>
            </a:extLst>
          </p:cNvPr>
          <p:cNvSpPr>
            <a:spLocks noGrp="1"/>
          </p:cNvSpPr>
          <p:nvPr>
            <p:ph type="title"/>
          </p:nvPr>
        </p:nvSpPr>
        <p:spPr/>
        <p:txBody>
          <a:bodyPr anchor="ctr">
            <a:normAutofit/>
          </a:bodyPr>
          <a:lstStyle/>
          <a:p>
            <a:pPr algn="ctr"/>
            <a:r>
              <a:rPr lang="en-US" sz="4500" dirty="0">
                <a:solidFill>
                  <a:schemeClr val="bg1"/>
                </a:solidFill>
                <a:latin typeface="Montserrat" pitchFamily="2" charset="77"/>
              </a:rPr>
              <a:t>The Ones Who Stay</a:t>
            </a:r>
          </a:p>
        </p:txBody>
      </p:sp>
      <p:sp>
        <p:nvSpPr>
          <p:cNvPr id="3" name="Text Placeholder 2">
            <a:extLst>
              <a:ext uri="{FF2B5EF4-FFF2-40B4-BE49-F238E27FC236}">
                <a16:creationId xmlns:a16="http://schemas.microsoft.com/office/drawing/2014/main" id="{FD12FD82-2CD8-3110-6336-6796A48BF563}"/>
              </a:ext>
            </a:extLst>
          </p:cNvPr>
          <p:cNvSpPr>
            <a:spLocks noGrp="1"/>
          </p:cNvSpPr>
          <p:nvPr>
            <p:ph type="body" idx="1"/>
          </p:nvPr>
        </p:nvSpPr>
        <p:spPr/>
        <p:txBody>
          <a:bodyPr>
            <a:normAutofit/>
          </a:bodyPr>
          <a:lstStyle/>
          <a:p>
            <a:pPr algn="ctr"/>
            <a:r>
              <a:rPr lang="en-US" sz="2000" dirty="0">
                <a:solidFill>
                  <a:schemeClr val="bg1"/>
                </a:solidFill>
                <a:latin typeface="Montserrat" pitchFamily="2" charset="77"/>
              </a:rPr>
              <a:t>A story about choosing to stay when everything tells you to leave.</a:t>
            </a:r>
          </a:p>
        </p:txBody>
      </p:sp>
    </p:spTree>
    <p:extLst>
      <p:ext uri="{BB962C8B-B14F-4D97-AF65-F5344CB8AC3E}">
        <p14:creationId xmlns:p14="http://schemas.microsoft.com/office/powerpoint/2010/main" val="3840431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TotalTime>
  <Words>599</Words>
  <Application>Microsoft Macintosh PowerPoint</Application>
  <PresentationFormat>Widescreen</PresentationFormat>
  <Paragraphs>69</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Montserrat</vt:lpstr>
      <vt:lpstr>Office Theme</vt:lpstr>
      <vt:lpstr>The Ones Who Stay</vt:lpstr>
      <vt:lpstr>Logline</vt:lpstr>
      <vt:lpstr>Synopsis</vt:lpstr>
      <vt:lpstr>At its core, The Ones Who Stay explores:</vt:lpstr>
      <vt:lpstr>Tone &amp; Feel</vt:lpstr>
      <vt:lpstr>Noah</vt:lpstr>
      <vt:lpstr>Ava</vt:lpstr>
      <vt:lpstr>Why this story matters</vt:lpstr>
      <vt:lpstr>Target Audience / Comparables</vt:lpstr>
      <vt:lpstr>Production Overview</vt:lpstr>
      <vt:lpstr>William’s Role</vt:lpstr>
      <vt:lpstr>The Ones Who Stay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Kapadia, William Derr</dc:creator>
  <cp:lastModifiedBy>Kapadia, William Derr</cp:lastModifiedBy>
  <cp:revision>4</cp:revision>
  <dcterms:created xsi:type="dcterms:W3CDTF">2026-05-03T01:16:02Z</dcterms:created>
  <dcterms:modified xsi:type="dcterms:W3CDTF">2026-05-03T15:34:46Z</dcterms:modified>
</cp:coreProperties>
</file>